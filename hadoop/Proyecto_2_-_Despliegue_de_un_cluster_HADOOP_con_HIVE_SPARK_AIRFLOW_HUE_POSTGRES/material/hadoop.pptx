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96" r:id="rId4"/>
    <p:sldId id="302" r:id="rId5"/>
    <p:sldId id="303" r:id="rId6"/>
    <p:sldId id="258" r:id="rId7"/>
    <p:sldId id="304" r:id="rId8"/>
    <p:sldId id="305" r:id="rId9"/>
    <p:sldId id="300" r:id="rId10"/>
    <p:sldId id="301" r:id="rId11"/>
    <p:sldId id="299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60527-3E47-8CF3-6025-6285B3DBA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3B2C76-0ACD-A0D1-E560-C9F49F6C8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8F7A3A-20E6-1BB3-9D2D-10C40986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6393BC-4BE4-CD30-E85F-DF22AD71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35D47C-1A6D-A4D4-D3D2-E70AF89EC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946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3C26C-3AAC-B552-C54A-526DF2CC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E9792-F2F0-28B6-43B2-1B47FFBF1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87F8A-DC90-DEDD-5517-DA4B03DC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E93F9C-35A1-3EB6-AF6A-6351969F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0688DE-A85B-EB77-3DC4-55581FD4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425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F17D9-2B33-D752-A843-14E8B6F4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2F2B17-44F5-E512-65A1-9E8AADDBB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F4C31C-E80F-79EC-228E-F4D25C2A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BE95D-06A9-37BD-C825-88F78F3D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CD5AF1-5D34-200D-2D08-201AD3CA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566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87D4F-39A7-8791-454F-BBDF18354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DF5BD-7D3A-78FF-85A3-BDD420B27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12A0FC-D087-0F86-1E0C-ED1034740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0F4DEE-2A13-F852-BA2E-F8687F53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F3423D-95BF-3D3A-AD9F-03EEA1CF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56754F-3190-7689-4EF8-89853481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343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5596F-ABEB-72BA-F3DF-17530EAD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F0C1C0-0114-F92D-6557-9D8C4DAC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5BB94C-2D8C-69B0-152C-B8A1CEB7D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FCE1B8-7A60-0C38-E8C7-7291B905F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EB16A4-3525-AEF8-04AE-85C826D47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711F8C-EB41-A372-C5C4-C76D1B55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E92BE5-73E1-78DD-2F39-F9452A94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96029-6382-2448-8358-3497446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502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CFC83-A09F-D68F-AA33-8511C636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A811B7-0A05-3AC0-7669-80E74C87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FB1E3B-83D9-CC72-0CD3-25A29C85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36179FC-D892-A311-EDFF-9D83E479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778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5989B9-41AC-EFBC-366E-F507CB10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29C825-5200-803A-9209-291E06E2A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A67C78-1D32-03A1-E031-04C75E50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190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69525-C3CC-C15E-644D-25B38B05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02EF1D-96FC-D406-2964-0DB71F069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D39EDE-EEE6-C040-2023-BA0CAB90B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2C1362-CE37-A4EF-8365-38D675C7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A80483-4D6E-DBDA-66D8-5C1B53CB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5185DE-299C-9932-281D-EE26F0DD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570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97B82-323D-C7FA-130B-C629B628C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825DD4C-DDF1-2F84-93F2-D7A010D86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F38F21-A15E-ECD6-65D4-F2E4D17ED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F703EA-177A-1514-180E-B98C8828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BFD771-EF19-51A2-6D80-833BDA56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B3AF9-F05D-C2E0-1BC3-9D837130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53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722BA-F977-A600-A570-360BA1AF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E6E928-E76C-3846-0242-44231B4C7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6559B8-9ECB-6647-838E-7B9BC08B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66515-B74F-5064-C715-A4666EA0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36947-9B42-1188-318F-6F94B7D8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413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094455-0D2D-7AA2-851E-F0F5CA2F2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449E26-5E59-D3FD-F216-7987DF04E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963D22-06B6-E440-84C6-C8C13A25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851B64-84D6-A726-7E02-77CCBA29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1D7E58-47CE-7115-BEA7-D1AAC808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580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FD0E23-2E7C-757A-9580-B6BC1E11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7D65EB-9C67-2735-FB88-91E2C18E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E02F93-19A3-A0CB-4861-BC5F40CE0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9EFA9-7906-42CA-BB0A-6B120719C98D}" type="datetimeFigureOut">
              <a:rPr lang="es-CL" smtClean="0"/>
              <a:t>25-05-2024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8D73B5-9CBC-CABA-36BE-E82714117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47E918-C33B-ADD3-2358-A4D908800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E0AC9-C718-4A08-B882-BBB18E12E9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811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2835AB68-DE40-3C13-45C9-9A2517614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3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pReduce NextGen Architecture">
            <a:extLst>
              <a:ext uri="{FF2B5EF4-FFF2-40B4-BE49-F238E27FC236}">
                <a16:creationId xmlns:a16="http://schemas.microsoft.com/office/drawing/2014/main" id="{554BBE63-A2EC-225E-296D-3B877F513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7649" y="1044067"/>
            <a:ext cx="8753475" cy="541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4E7A5FA-F8C4-5F20-6C2C-F87CB4922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097"/>
            <a:ext cx="5981557" cy="887970"/>
          </a:xfrm>
        </p:spPr>
        <p:txBody>
          <a:bodyPr>
            <a:normAutofit fontScale="90000"/>
          </a:bodyPr>
          <a:lstStyle/>
          <a:p>
            <a:pPr algn="ctr"/>
            <a:r>
              <a:rPr lang="es-CL" b="1" dirty="0"/>
              <a:t>Arquitectura Yarn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178697-D47C-007C-9532-2684DFD1A040}"/>
              </a:ext>
            </a:extLst>
          </p:cNvPr>
          <p:cNvSpPr txBox="1"/>
          <p:nvPr/>
        </p:nvSpPr>
        <p:spPr>
          <a:xfrm>
            <a:off x="7132518" y="161257"/>
            <a:ext cx="493210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Nosotros tenemos la máquina principal que sería el </a:t>
            </a:r>
            <a:r>
              <a:rPr lang="es-CL" sz="1400" b="1" dirty="0"/>
              <a:t>Nodo Master</a:t>
            </a:r>
            <a:r>
              <a:rPr lang="es-CL" sz="1400" b="1" dirty="0">
                <a:solidFill>
                  <a:srgbClr val="0070C0"/>
                </a:solidFill>
              </a:rPr>
              <a:t> </a:t>
            </a:r>
            <a:r>
              <a:rPr lang="es-CL" sz="1400" dirty="0"/>
              <a:t>que ejecuta el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 y tenemos los </a:t>
            </a:r>
            <a:r>
              <a:rPr lang="es-CL" sz="1400" b="1" dirty="0"/>
              <a:t>nodos workers</a:t>
            </a:r>
            <a:r>
              <a:rPr lang="es-CL" sz="1400" dirty="0"/>
              <a:t>, donde cada uno de ellos ejecuta un </a:t>
            </a:r>
            <a:r>
              <a:rPr lang="es-CL" sz="1400" b="1" dirty="0">
                <a:solidFill>
                  <a:srgbClr val="0070C0"/>
                </a:solidFill>
              </a:rPr>
              <a:t>NodeManager</a:t>
            </a:r>
            <a:r>
              <a:rPr lang="es-CL" sz="1400" dirty="0"/>
              <a:t>. Los </a:t>
            </a:r>
            <a:r>
              <a:rPr lang="es-CL" sz="1400" b="1" dirty="0"/>
              <a:t>workers</a:t>
            </a:r>
            <a:r>
              <a:rPr lang="es-CL" sz="1400" dirty="0"/>
              <a:t> analizan el estado de la maquina (nodo) y contantemente envían información al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, diciéndole cosas como “la maquina está activa”, “tiene tanta memoria libre”, “tiene tanta CPU ocupada”, etc. Entonces, el </a:t>
            </a:r>
            <a:r>
              <a:rPr lang="es-CL" sz="1400" b="1" dirty="0">
                <a:solidFill>
                  <a:srgbClr val="C00000"/>
                </a:solidFill>
              </a:rPr>
              <a:t>cliente</a:t>
            </a:r>
            <a:r>
              <a:rPr lang="es-CL" sz="1400" dirty="0"/>
              <a:t> (digamos que el de color rojo) quiere ejecutar una determinada aplicación, entonces el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 lo primero que decide es que esa aplicación se ejecuta en un </a:t>
            </a:r>
            <a:r>
              <a:rPr lang="es-CL" sz="1400" b="1" dirty="0">
                <a:solidFill>
                  <a:srgbClr val="C00000"/>
                </a:solidFill>
              </a:rPr>
              <a:t>ApplicationMaster</a:t>
            </a:r>
            <a:r>
              <a:rPr lang="es-CL" sz="1400" dirty="0"/>
              <a:t> de un nodo. En este caso, será el </a:t>
            </a:r>
            <a:r>
              <a:rPr lang="es-CL" sz="1400" b="1" dirty="0">
                <a:solidFill>
                  <a:srgbClr val="C00000"/>
                </a:solidFill>
              </a:rPr>
              <a:t>ApplicationMaster</a:t>
            </a:r>
            <a:r>
              <a:rPr lang="es-CL" sz="1400" dirty="0"/>
              <a:t> de color rojo del segundo nodo. El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 le dice: “oye, ocúpate de esa aplicación”. El </a:t>
            </a:r>
            <a:r>
              <a:rPr lang="es-CL" sz="1400" b="1" dirty="0">
                <a:solidFill>
                  <a:srgbClr val="C00000"/>
                </a:solidFill>
              </a:rPr>
              <a:t>ApplicationMaster</a:t>
            </a:r>
            <a:r>
              <a:rPr lang="es-CL" sz="1400" dirty="0"/>
              <a:t> recoge la aplicación y analiza los requerimientos de esa aplicación y le pide recursos al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 y le dice “esa aplicación necesita ejecutarse en tres </a:t>
            </a:r>
            <a:r>
              <a:rPr lang="es-CL" sz="1400" b="1" dirty="0">
                <a:solidFill>
                  <a:srgbClr val="C00000"/>
                </a:solidFill>
              </a:rPr>
              <a:t>contenedores</a:t>
            </a:r>
            <a:r>
              <a:rPr lang="es-CL" sz="1400" dirty="0"/>
              <a:t> (tres máquinas virtuales de java), con tantos requisitos de memoria y tantos requisitos de CPU. Entonces, el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 analiza el estado de las máquinas y decide en que nodos lanzar los </a:t>
            </a:r>
            <a:r>
              <a:rPr lang="es-CL" sz="1400" b="1" dirty="0">
                <a:solidFill>
                  <a:srgbClr val="C00000"/>
                </a:solidFill>
              </a:rPr>
              <a:t>contenedores</a:t>
            </a:r>
            <a:r>
              <a:rPr lang="es-CL" sz="1400" dirty="0"/>
              <a:t>, en este caso, un contenedor en el 1er nodo y los otros dos contenedores en el 3er nodo. A partir de ahí, esos contenedores se ejecutan en paralelo y van informando al </a:t>
            </a:r>
            <a:r>
              <a:rPr lang="es-CL" sz="1400" b="1" dirty="0">
                <a:solidFill>
                  <a:srgbClr val="C00000"/>
                </a:solidFill>
              </a:rPr>
              <a:t>ApplicationMaster</a:t>
            </a:r>
            <a:r>
              <a:rPr lang="es-CL" sz="1400" dirty="0"/>
              <a:t> de su estado, le van diciendo “voy avanzando, estoy trabajando”. Si el </a:t>
            </a:r>
            <a:r>
              <a:rPr lang="es-CL" sz="1400" b="1" dirty="0">
                <a:solidFill>
                  <a:srgbClr val="C00000"/>
                </a:solidFill>
              </a:rPr>
              <a:t>ApplicationMaster</a:t>
            </a:r>
            <a:r>
              <a:rPr lang="es-CL" sz="1400" dirty="0"/>
              <a:t> de repente deja de recibir noticias de un contenedor, supone que es porque un nodo se murió o porque la aplicación se murió, y le dice al </a:t>
            </a:r>
            <a:r>
              <a:rPr lang="es-CL" sz="1400" b="1" dirty="0">
                <a:solidFill>
                  <a:srgbClr val="0070C0"/>
                </a:solidFill>
              </a:rPr>
              <a:t>ResourceManager</a:t>
            </a:r>
            <a:r>
              <a:rPr lang="es-CL" sz="1400" dirty="0"/>
              <a:t> “dame más, que voy a relanzar el contenedor que se me ha muerto”. Y asi lo mismo para la aplicación azul.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099122-9BF1-23B1-A59E-89D6A0A0CACA}"/>
              </a:ext>
            </a:extLst>
          </p:cNvPr>
          <p:cNvSpPr txBox="1"/>
          <p:nvPr/>
        </p:nvSpPr>
        <p:spPr>
          <a:xfrm>
            <a:off x="2383096" y="2235691"/>
            <a:ext cx="164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Nodo Master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A29903-C525-4CBF-7BD7-01E7A1BC9AA2}"/>
              </a:ext>
            </a:extLst>
          </p:cNvPr>
          <p:cNvSpPr txBox="1"/>
          <p:nvPr/>
        </p:nvSpPr>
        <p:spPr>
          <a:xfrm rot="16200000">
            <a:off x="3879446" y="1721302"/>
            <a:ext cx="164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Nodo Worker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77821A-0438-2A41-B423-9E9CEF5A93F7}"/>
              </a:ext>
            </a:extLst>
          </p:cNvPr>
          <p:cNvSpPr txBox="1"/>
          <p:nvPr/>
        </p:nvSpPr>
        <p:spPr>
          <a:xfrm rot="16200000">
            <a:off x="3879446" y="5333760"/>
            <a:ext cx="164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Nodo Worker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8A4E7C-8DDA-30F5-7E50-964B2D2FA005}"/>
              </a:ext>
            </a:extLst>
          </p:cNvPr>
          <p:cNvSpPr txBox="1"/>
          <p:nvPr/>
        </p:nvSpPr>
        <p:spPr>
          <a:xfrm rot="16200000">
            <a:off x="3879446" y="3568475"/>
            <a:ext cx="164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Nodo Worker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522824BA-935F-D5B4-6A5B-CDDCA2E33FBD}"/>
              </a:ext>
            </a:extLst>
          </p:cNvPr>
          <p:cNvSpPr/>
          <p:nvPr/>
        </p:nvSpPr>
        <p:spPr>
          <a:xfrm rot="2429352">
            <a:off x="142268" y="2231718"/>
            <a:ext cx="549538" cy="22140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097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é es Hadoop">
            <a:extLst>
              <a:ext uri="{FF2B5EF4-FFF2-40B4-BE49-F238E27FC236}">
                <a16:creationId xmlns:a16="http://schemas.microsoft.com/office/drawing/2014/main" id="{9560C551-020B-D788-32C4-477957B31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054" y="1260216"/>
            <a:ext cx="7952096" cy="476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A2BDC9-DB52-D9D5-7C78-74C382FDD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785" y="210688"/>
            <a:ext cx="5981557" cy="887970"/>
          </a:xfrm>
        </p:spPr>
        <p:txBody>
          <a:bodyPr>
            <a:normAutofit fontScale="90000"/>
          </a:bodyPr>
          <a:lstStyle/>
          <a:p>
            <a:pPr algn="ctr"/>
            <a:r>
              <a:rPr lang="es-CL" b="1" dirty="0"/>
              <a:t>Arquitectura HDFS</a:t>
            </a:r>
          </a:p>
        </p:txBody>
      </p:sp>
    </p:spTree>
    <p:extLst>
      <p:ext uri="{BB962C8B-B14F-4D97-AF65-F5344CB8AC3E}">
        <p14:creationId xmlns:p14="http://schemas.microsoft.com/office/powerpoint/2010/main" val="352482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2BDC9-DB52-D9D5-7C78-74C382FDD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785" y="210688"/>
            <a:ext cx="5981557" cy="887970"/>
          </a:xfrm>
        </p:spPr>
        <p:txBody>
          <a:bodyPr>
            <a:normAutofit fontScale="90000"/>
          </a:bodyPr>
          <a:lstStyle/>
          <a:p>
            <a:pPr algn="ctr"/>
            <a:r>
              <a:rPr lang="es-CL" b="1" dirty="0"/>
              <a:t>Arquitectura HDFS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B914EE-E114-7E0A-EDAF-5563CF01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0" y="1075013"/>
            <a:ext cx="7935178" cy="578298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8F0723A-C8E0-D62F-5245-1CE4A95D84A8}"/>
              </a:ext>
            </a:extLst>
          </p:cNvPr>
          <p:cNvSpPr txBox="1"/>
          <p:nvPr/>
        </p:nvSpPr>
        <p:spPr>
          <a:xfrm>
            <a:off x="7118870" y="352325"/>
            <a:ext cx="493210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dirty="0"/>
              <a:t>HDFS es un sistema de almacenamiento tolerante a fallos que puede almacenar gran cantidad de datos, escalar de forma incremental y sobrevivir a fallos de hardware sin perder datos. Es un sistema de almacenamiento en que vamos a  </a:t>
            </a:r>
          </a:p>
          <a:p>
            <a:pPr algn="just"/>
            <a:r>
              <a:rPr lang="es-MX" sz="1400" dirty="0"/>
              <a:t>                   poder copiar todos los archivos que queramos subir  </a:t>
            </a:r>
          </a:p>
          <a:p>
            <a:pPr algn="just"/>
            <a:r>
              <a:rPr lang="es-MX" sz="1400" dirty="0"/>
              <a:t>                   a Hadoop. Se van a guardar aquí. Porque ahora </a:t>
            </a:r>
          </a:p>
          <a:p>
            <a:pPr algn="just"/>
            <a:r>
              <a:rPr lang="es-MX" sz="1400" dirty="0"/>
              <a:t>                   veremos que los datos se replican y se distribuyen a  </a:t>
            </a:r>
          </a:p>
          <a:p>
            <a:pPr algn="just"/>
            <a:r>
              <a:rPr lang="es-MX" sz="1400" dirty="0"/>
              <a:t>                   lo largo de todos los nodos del clúster. Con lo cual esto me permite almacenar una gran cantidad de información porque voy a poder utilizar todos los discos de cada nodo y además como replico la información en distintos nodos, siempre voy a tener la seguridad de que, aunque se me caiga una máquina, la información, el dato, lo voy a tener en otro nodo. HDFS gestiona el almacenamiento en el clúster, dividiendo los archivos en "</a:t>
            </a:r>
            <a:r>
              <a:rPr lang="es-MX" sz="1400" b="1" dirty="0"/>
              <a:t>bloques</a:t>
            </a:r>
            <a:r>
              <a:rPr lang="es-MX" sz="1400" dirty="0"/>
              <a:t>" y almacenando copias duplicadas a través de los nodos. Nosotros podemos definir el número de copias que hacemos en los distintos nodos del clúster. El </a:t>
            </a:r>
            <a:r>
              <a:rPr lang="es-MX" sz="1400" b="1" dirty="0"/>
              <a:t>tamaño de un bloque es de 128 MB</a:t>
            </a:r>
            <a:r>
              <a:rPr lang="es-MX" sz="1400" dirty="0"/>
              <a:t>. </a:t>
            </a:r>
            <a:r>
              <a:rPr lang="es-MX" sz="1400" b="1" dirty="0">
                <a:solidFill>
                  <a:srgbClr val="0070C0"/>
                </a:solidFill>
              </a:rPr>
              <a:t>Por defecto, cada bloque se replica en 3 nodos distintos</a:t>
            </a:r>
            <a:r>
              <a:rPr lang="es-MX" sz="1400" dirty="0"/>
              <a:t>. Puedo tener más de tres copias, pero, las buenas prácticas y la experiencia te dicen que poner más bloques no va a mejorar el rendimiento y si que va a disminuir el tamaño total que vas a poder guardar en tu clúster.</a:t>
            </a:r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4240843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31EB8-09FB-FFB2-732C-4E1B90440DB3}"/>
              </a:ext>
            </a:extLst>
          </p:cNvPr>
          <p:cNvSpPr txBox="1">
            <a:spLocks/>
          </p:cNvSpPr>
          <p:nvPr/>
        </p:nvSpPr>
        <p:spPr>
          <a:xfrm>
            <a:off x="9444252" y="155113"/>
            <a:ext cx="2481632" cy="887970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b="1" dirty="0"/>
              <a:t>Arquitectura </a:t>
            </a:r>
          </a:p>
          <a:p>
            <a:pPr algn="ctr"/>
            <a:r>
              <a:rPr lang="es-CL" b="1" dirty="0"/>
              <a:t>HDFS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F5862F8-5786-7F7A-1895-892A9338160B}"/>
              </a:ext>
            </a:extLst>
          </p:cNvPr>
          <p:cNvSpPr/>
          <p:nvPr/>
        </p:nvSpPr>
        <p:spPr>
          <a:xfrm>
            <a:off x="258754" y="929271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76F9B0-7619-67BE-CE69-0FC3FF40AE52}"/>
              </a:ext>
            </a:extLst>
          </p:cNvPr>
          <p:cNvSpPr txBox="1"/>
          <p:nvPr/>
        </p:nvSpPr>
        <p:spPr>
          <a:xfrm>
            <a:off x="228042" y="998901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B76971-FED3-E333-94A3-927AA43E5B78}"/>
              </a:ext>
            </a:extLst>
          </p:cNvPr>
          <p:cNvSpPr/>
          <p:nvPr/>
        </p:nvSpPr>
        <p:spPr>
          <a:xfrm>
            <a:off x="1082451" y="929271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14DEF5-1A93-645A-83D8-A2D27DE636AE}"/>
              </a:ext>
            </a:extLst>
          </p:cNvPr>
          <p:cNvSpPr txBox="1"/>
          <p:nvPr/>
        </p:nvSpPr>
        <p:spPr>
          <a:xfrm>
            <a:off x="1051739" y="998901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517B96-902B-1933-5C70-D32C4DAC746F}"/>
              </a:ext>
            </a:extLst>
          </p:cNvPr>
          <p:cNvSpPr/>
          <p:nvPr/>
        </p:nvSpPr>
        <p:spPr>
          <a:xfrm>
            <a:off x="1906148" y="929271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954666-010F-5E0B-553B-C3D986D01B9B}"/>
              </a:ext>
            </a:extLst>
          </p:cNvPr>
          <p:cNvSpPr txBox="1"/>
          <p:nvPr/>
        </p:nvSpPr>
        <p:spPr>
          <a:xfrm>
            <a:off x="1875436" y="998901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CDD84795-49C8-8026-33E8-926DFF0D7D7D}"/>
              </a:ext>
            </a:extLst>
          </p:cNvPr>
          <p:cNvSpPr/>
          <p:nvPr/>
        </p:nvSpPr>
        <p:spPr>
          <a:xfrm rot="16200000">
            <a:off x="1239305" y="-551924"/>
            <a:ext cx="349970" cy="231107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F44CA1F-97F7-8E9D-0EAD-4DE89F19A5FC}"/>
              </a:ext>
            </a:extLst>
          </p:cNvPr>
          <p:cNvSpPr txBox="1"/>
          <p:nvPr/>
        </p:nvSpPr>
        <p:spPr>
          <a:xfrm>
            <a:off x="802709" y="93286"/>
            <a:ext cx="1293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archivo.txt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BEC1DAE-3229-071E-B226-9C0B4B9A0F92}"/>
              </a:ext>
            </a:extLst>
          </p:cNvPr>
          <p:cNvSpPr/>
          <p:nvPr/>
        </p:nvSpPr>
        <p:spPr>
          <a:xfrm>
            <a:off x="289466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5D47D9-2E90-E3A1-1E56-B26B42419593}"/>
              </a:ext>
            </a:extLst>
          </p:cNvPr>
          <p:cNvSpPr txBox="1"/>
          <p:nvPr/>
        </p:nvSpPr>
        <p:spPr>
          <a:xfrm>
            <a:off x="258754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4581BE-7B1C-DDCE-3B12-DED268B1B76A}"/>
              </a:ext>
            </a:extLst>
          </p:cNvPr>
          <p:cNvSpPr/>
          <p:nvPr/>
        </p:nvSpPr>
        <p:spPr>
          <a:xfrm>
            <a:off x="1113163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A6F353-84A6-389E-01FA-6795D9FA68AE}"/>
              </a:ext>
            </a:extLst>
          </p:cNvPr>
          <p:cNvSpPr txBox="1"/>
          <p:nvPr/>
        </p:nvSpPr>
        <p:spPr>
          <a:xfrm>
            <a:off x="1082451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A0EAA5-3937-77DA-33EE-FC98042C0E40}"/>
              </a:ext>
            </a:extLst>
          </p:cNvPr>
          <p:cNvSpPr/>
          <p:nvPr/>
        </p:nvSpPr>
        <p:spPr>
          <a:xfrm>
            <a:off x="1936860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E61BBD-F4B4-78BA-F867-4596B3E8730D}"/>
              </a:ext>
            </a:extLst>
          </p:cNvPr>
          <p:cNvSpPr txBox="1"/>
          <p:nvPr/>
        </p:nvSpPr>
        <p:spPr>
          <a:xfrm>
            <a:off x="1906148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A1C9042-D9FD-9B02-2454-F852B93DCA0A}"/>
              </a:ext>
            </a:extLst>
          </p:cNvPr>
          <p:cNvSpPr/>
          <p:nvPr/>
        </p:nvSpPr>
        <p:spPr>
          <a:xfrm>
            <a:off x="3236240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31D5083-81A7-8BCD-5B0A-17C77F7106B2}"/>
              </a:ext>
            </a:extLst>
          </p:cNvPr>
          <p:cNvSpPr txBox="1"/>
          <p:nvPr/>
        </p:nvSpPr>
        <p:spPr>
          <a:xfrm>
            <a:off x="3205528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C9F535B-A212-A93B-9DF6-6B0AB3880238}"/>
              </a:ext>
            </a:extLst>
          </p:cNvPr>
          <p:cNvSpPr/>
          <p:nvPr/>
        </p:nvSpPr>
        <p:spPr>
          <a:xfrm>
            <a:off x="4059937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EC4D66B-490A-3BCB-9340-76D469A8BC4A}"/>
              </a:ext>
            </a:extLst>
          </p:cNvPr>
          <p:cNvSpPr txBox="1"/>
          <p:nvPr/>
        </p:nvSpPr>
        <p:spPr>
          <a:xfrm>
            <a:off x="4029225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CA86227-2D0E-E5B7-12EF-1B3CBD06BD46}"/>
              </a:ext>
            </a:extLst>
          </p:cNvPr>
          <p:cNvSpPr/>
          <p:nvPr/>
        </p:nvSpPr>
        <p:spPr>
          <a:xfrm>
            <a:off x="4883634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7B3BE5B-8CB3-AF6B-1D6C-802DF471A49C}"/>
              </a:ext>
            </a:extLst>
          </p:cNvPr>
          <p:cNvSpPr txBox="1"/>
          <p:nvPr/>
        </p:nvSpPr>
        <p:spPr>
          <a:xfrm>
            <a:off x="4852922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9782606-626D-C900-D1E8-2CC57D63EDC9}"/>
              </a:ext>
            </a:extLst>
          </p:cNvPr>
          <p:cNvSpPr/>
          <p:nvPr/>
        </p:nvSpPr>
        <p:spPr>
          <a:xfrm>
            <a:off x="6202551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5C099F-737D-1863-E056-F0F63089A689}"/>
              </a:ext>
            </a:extLst>
          </p:cNvPr>
          <p:cNvSpPr txBox="1"/>
          <p:nvPr/>
        </p:nvSpPr>
        <p:spPr>
          <a:xfrm>
            <a:off x="6171839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BC23089-C181-067A-4FC9-A0907E0278AA}"/>
              </a:ext>
            </a:extLst>
          </p:cNvPr>
          <p:cNvSpPr/>
          <p:nvPr/>
        </p:nvSpPr>
        <p:spPr>
          <a:xfrm>
            <a:off x="7026248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33D953D-8AA9-86D3-7D45-7295B37ACAB1}"/>
              </a:ext>
            </a:extLst>
          </p:cNvPr>
          <p:cNvSpPr txBox="1"/>
          <p:nvPr/>
        </p:nvSpPr>
        <p:spPr>
          <a:xfrm>
            <a:off x="6995536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CA550DD-BA89-1497-D1C1-1A6DD504A384}"/>
              </a:ext>
            </a:extLst>
          </p:cNvPr>
          <p:cNvSpPr/>
          <p:nvPr/>
        </p:nvSpPr>
        <p:spPr>
          <a:xfrm>
            <a:off x="7849945" y="1886353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319FC24-15E1-0C36-0D05-BC4B11E3E70E}"/>
              </a:ext>
            </a:extLst>
          </p:cNvPr>
          <p:cNvSpPr txBox="1"/>
          <p:nvPr/>
        </p:nvSpPr>
        <p:spPr>
          <a:xfrm>
            <a:off x="7819233" y="1955983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E9C32BD-146D-24AC-8600-2B4D1ED49938}"/>
              </a:ext>
            </a:extLst>
          </p:cNvPr>
          <p:cNvSpPr/>
          <p:nvPr/>
        </p:nvSpPr>
        <p:spPr>
          <a:xfrm>
            <a:off x="260164" y="2699507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608164D-8974-B4B1-1377-CC2E08EC0CAD}"/>
              </a:ext>
            </a:extLst>
          </p:cNvPr>
          <p:cNvSpPr txBox="1"/>
          <p:nvPr/>
        </p:nvSpPr>
        <p:spPr>
          <a:xfrm>
            <a:off x="524842" y="2869761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1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957C8B6-87CE-7267-3005-EE2F3E6BDBC2}"/>
              </a:ext>
            </a:extLst>
          </p:cNvPr>
          <p:cNvSpPr/>
          <p:nvPr/>
        </p:nvSpPr>
        <p:spPr>
          <a:xfrm>
            <a:off x="3225767" y="2699507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E243FC9-14CC-C1AE-2D22-41742CBAD49C}"/>
              </a:ext>
            </a:extLst>
          </p:cNvPr>
          <p:cNvSpPr txBox="1"/>
          <p:nvPr/>
        </p:nvSpPr>
        <p:spPr>
          <a:xfrm>
            <a:off x="3490445" y="2869761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16F2E77-461F-BD82-EE6E-EDD7FA44CBFF}"/>
              </a:ext>
            </a:extLst>
          </p:cNvPr>
          <p:cNvSpPr/>
          <p:nvPr/>
        </p:nvSpPr>
        <p:spPr>
          <a:xfrm>
            <a:off x="6202551" y="2704472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30F49B7-ABA6-900A-1CAA-B83D59884B65}"/>
              </a:ext>
            </a:extLst>
          </p:cNvPr>
          <p:cNvSpPr txBox="1"/>
          <p:nvPr/>
        </p:nvSpPr>
        <p:spPr>
          <a:xfrm>
            <a:off x="6467229" y="2874726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3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B9D3C9A-8E35-C57B-6459-EA82FBDEE094}"/>
              </a:ext>
            </a:extLst>
          </p:cNvPr>
          <p:cNvSpPr/>
          <p:nvPr/>
        </p:nvSpPr>
        <p:spPr>
          <a:xfrm>
            <a:off x="289465" y="428182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5C63F90-49A2-4C5B-1BBD-7528F2999C57}"/>
              </a:ext>
            </a:extLst>
          </p:cNvPr>
          <p:cNvSpPr txBox="1"/>
          <p:nvPr/>
        </p:nvSpPr>
        <p:spPr>
          <a:xfrm>
            <a:off x="258753" y="4351454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BADC4C0-D58E-49FA-6475-286B5B34E920}"/>
              </a:ext>
            </a:extLst>
          </p:cNvPr>
          <p:cNvSpPr/>
          <p:nvPr/>
        </p:nvSpPr>
        <p:spPr>
          <a:xfrm>
            <a:off x="1113162" y="428182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21367F9-34B1-D6C7-1B5A-D9FD20BA4560}"/>
              </a:ext>
            </a:extLst>
          </p:cNvPr>
          <p:cNvSpPr txBox="1"/>
          <p:nvPr/>
        </p:nvSpPr>
        <p:spPr>
          <a:xfrm>
            <a:off x="1082450" y="4351454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D75145C-183F-3EAA-6CD2-FBCB2CE8162A}"/>
              </a:ext>
            </a:extLst>
          </p:cNvPr>
          <p:cNvSpPr/>
          <p:nvPr/>
        </p:nvSpPr>
        <p:spPr>
          <a:xfrm>
            <a:off x="1936859" y="428182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C61BFAB-6991-95A9-B96C-2D49DDED9F92}"/>
              </a:ext>
            </a:extLst>
          </p:cNvPr>
          <p:cNvSpPr txBox="1"/>
          <p:nvPr/>
        </p:nvSpPr>
        <p:spPr>
          <a:xfrm>
            <a:off x="1906147" y="4351454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41" name="Cerrar llave 40">
            <a:extLst>
              <a:ext uri="{FF2B5EF4-FFF2-40B4-BE49-F238E27FC236}">
                <a16:creationId xmlns:a16="http://schemas.microsoft.com/office/drawing/2014/main" id="{4FB0B0A7-37FB-7152-F967-2E9B14387FBD}"/>
              </a:ext>
            </a:extLst>
          </p:cNvPr>
          <p:cNvSpPr/>
          <p:nvPr/>
        </p:nvSpPr>
        <p:spPr>
          <a:xfrm rot="16200000">
            <a:off x="1681864" y="2388780"/>
            <a:ext cx="349970" cy="31347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6436DF4-BFE8-7106-1E08-81549DF2D51B}"/>
              </a:ext>
            </a:extLst>
          </p:cNvPr>
          <p:cNvSpPr txBox="1"/>
          <p:nvPr/>
        </p:nvSpPr>
        <p:spPr>
          <a:xfrm>
            <a:off x="1251415" y="3434393"/>
            <a:ext cx="1527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archivo_2.txt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A5163C9-4127-A486-06F3-55CE7AA4D5EA}"/>
              </a:ext>
            </a:extLst>
          </p:cNvPr>
          <p:cNvSpPr/>
          <p:nvPr/>
        </p:nvSpPr>
        <p:spPr>
          <a:xfrm>
            <a:off x="320177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1760594-8E0A-1431-85EB-E3E659D16EC7}"/>
              </a:ext>
            </a:extLst>
          </p:cNvPr>
          <p:cNvSpPr txBox="1"/>
          <p:nvPr/>
        </p:nvSpPr>
        <p:spPr>
          <a:xfrm>
            <a:off x="289465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6CAD9E7-CBA6-F9E3-A364-E5AD51C033C2}"/>
              </a:ext>
            </a:extLst>
          </p:cNvPr>
          <p:cNvSpPr/>
          <p:nvPr/>
        </p:nvSpPr>
        <p:spPr>
          <a:xfrm>
            <a:off x="1143874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F88DDC-DF8E-C4D6-E466-19AFA42629EB}"/>
              </a:ext>
            </a:extLst>
          </p:cNvPr>
          <p:cNvSpPr txBox="1"/>
          <p:nvPr/>
        </p:nvSpPr>
        <p:spPr>
          <a:xfrm>
            <a:off x="1113162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4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82C7A35-00AF-E6C5-2D27-3047F2A26E63}"/>
              </a:ext>
            </a:extLst>
          </p:cNvPr>
          <p:cNvSpPr/>
          <p:nvPr/>
        </p:nvSpPr>
        <p:spPr>
          <a:xfrm>
            <a:off x="1967571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E514452-D9B3-5203-3995-8E00C65AA208}"/>
              </a:ext>
            </a:extLst>
          </p:cNvPr>
          <p:cNvSpPr txBox="1"/>
          <p:nvPr/>
        </p:nvSpPr>
        <p:spPr>
          <a:xfrm>
            <a:off x="1936859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093A4A5-DA76-06EC-FC6C-0B7D8DA6EDD3}"/>
              </a:ext>
            </a:extLst>
          </p:cNvPr>
          <p:cNvSpPr/>
          <p:nvPr/>
        </p:nvSpPr>
        <p:spPr>
          <a:xfrm>
            <a:off x="3266951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BF50EE4-78B8-CF7C-7756-5E435F26EF5E}"/>
              </a:ext>
            </a:extLst>
          </p:cNvPr>
          <p:cNvSpPr txBox="1"/>
          <p:nvPr/>
        </p:nvSpPr>
        <p:spPr>
          <a:xfrm>
            <a:off x="3236239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0362F1AE-41C6-A16C-C13C-7E401726EB51}"/>
              </a:ext>
            </a:extLst>
          </p:cNvPr>
          <p:cNvSpPr/>
          <p:nvPr/>
        </p:nvSpPr>
        <p:spPr>
          <a:xfrm>
            <a:off x="4090648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947A7AA-079F-997F-BCD4-2260F8237339}"/>
              </a:ext>
            </a:extLst>
          </p:cNvPr>
          <p:cNvSpPr txBox="1"/>
          <p:nvPr/>
        </p:nvSpPr>
        <p:spPr>
          <a:xfrm>
            <a:off x="4059936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CAA10D9-5799-C0B6-1B36-5EEBE9FD0C10}"/>
              </a:ext>
            </a:extLst>
          </p:cNvPr>
          <p:cNvSpPr/>
          <p:nvPr/>
        </p:nvSpPr>
        <p:spPr>
          <a:xfrm>
            <a:off x="4914345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4F05388-DBC3-1094-398F-8328C09D30D9}"/>
              </a:ext>
            </a:extLst>
          </p:cNvPr>
          <p:cNvSpPr txBox="1"/>
          <p:nvPr/>
        </p:nvSpPr>
        <p:spPr>
          <a:xfrm>
            <a:off x="4883633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4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E3E09A7-49F2-FABB-4452-17E6C96AB89F}"/>
              </a:ext>
            </a:extLst>
          </p:cNvPr>
          <p:cNvSpPr/>
          <p:nvPr/>
        </p:nvSpPr>
        <p:spPr>
          <a:xfrm>
            <a:off x="6205966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27CE473-31E4-2E12-0416-3F7556F6DD55}"/>
              </a:ext>
            </a:extLst>
          </p:cNvPr>
          <p:cNvSpPr txBox="1"/>
          <p:nvPr/>
        </p:nvSpPr>
        <p:spPr>
          <a:xfrm>
            <a:off x="6175254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D766C02-FB89-83FE-4957-067F7E4FFEFA}"/>
              </a:ext>
            </a:extLst>
          </p:cNvPr>
          <p:cNvSpPr/>
          <p:nvPr/>
        </p:nvSpPr>
        <p:spPr>
          <a:xfrm>
            <a:off x="7029663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1E323C4-3063-8C99-E5D7-A37C41B1C20A}"/>
              </a:ext>
            </a:extLst>
          </p:cNvPr>
          <p:cNvSpPr txBox="1"/>
          <p:nvPr/>
        </p:nvSpPr>
        <p:spPr>
          <a:xfrm>
            <a:off x="6998951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132CC6FA-5DE6-5112-C6B9-C4E6F9D9EC76}"/>
              </a:ext>
            </a:extLst>
          </p:cNvPr>
          <p:cNvSpPr/>
          <p:nvPr/>
        </p:nvSpPr>
        <p:spPr>
          <a:xfrm>
            <a:off x="7853360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C36A36A-40BC-8CF1-8481-40FD6D7E80BA}"/>
              </a:ext>
            </a:extLst>
          </p:cNvPr>
          <p:cNvSpPr txBox="1"/>
          <p:nvPr/>
        </p:nvSpPr>
        <p:spPr>
          <a:xfrm>
            <a:off x="7822648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1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30725FC7-66E9-5469-01F3-20D717844965}"/>
              </a:ext>
            </a:extLst>
          </p:cNvPr>
          <p:cNvSpPr/>
          <p:nvPr/>
        </p:nvSpPr>
        <p:spPr>
          <a:xfrm>
            <a:off x="290875" y="6052060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5CC9728-64CE-85DE-C3CE-2C3915CDB325}"/>
              </a:ext>
            </a:extLst>
          </p:cNvPr>
          <p:cNvSpPr txBox="1"/>
          <p:nvPr/>
        </p:nvSpPr>
        <p:spPr>
          <a:xfrm>
            <a:off x="555553" y="6222314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1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EFB6AD51-7F23-2233-F5DB-B5811F83DA23}"/>
              </a:ext>
            </a:extLst>
          </p:cNvPr>
          <p:cNvSpPr/>
          <p:nvPr/>
        </p:nvSpPr>
        <p:spPr>
          <a:xfrm>
            <a:off x="3256478" y="6052060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E3C0FFC-5B5C-BE48-8571-B17447933FF2}"/>
              </a:ext>
            </a:extLst>
          </p:cNvPr>
          <p:cNvSpPr txBox="1"/>
          <p:nvPr/>
        </p:nvSpPr>
        <p:spPr>
          <a:xfrm>
            <a:off x="3521156" y="6222314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2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B5A5D1F5-1F9E-0838-B907-072458BEC81C}"/>
              </a:ext>
            </a:extLst>
          </p:cNvPr>
          <p:cNvSpPr/>
          <p:nvPr/>
        </p:nvSpPr>
        <p:spPr>
          <a:xfrm>
            <a:off x="6205966" y="6057025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A22DA6BC-324B-D36B-9958-841D9D359094}"/>
              </a:ext>
            </a:extLst>
          </p:cNvPr>
          <p:cNvSpPr txBox="1"/>
          <p:nvPr/>
        </p:nvSpPr>
        <p:spPr>
          <a:xfrm>
            <a:off x="6470644" y="6227279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3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7F301CAA-0D3A-602C-A053-4063E3D68095}"/>
              </a:ext>
            </a:extLst>
          </p:cNvPr>
          <p:cNvSpPr/>
          <p:nvPr/>
        </p:nvSpPr>
        <p:spPr>
          <a:xfrm>
            <a:off x="9064566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7B3690F4-DEAE-D312-225E-33A83E7F34D8}"/>
              </a:ext>
            </a:extLst>
          </p:cNvPr>
          <p:cNvSpPr txBox="1"/>
          <p:nvPr/>
        </p:nvSpPr>
        <p:spPr>
          <a:xfrm>
            <a:off x="9033854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4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EB7149B9-209E-3DEE-3A2B-A71161387740}"/>
              </a:ext>
            </a:extLst>
          </p:cNvPr>
          <p:cNvSpPr/>
          <p:nvPr/>
        </p:nvSpPr>
        <p:spPr>
          <a:xfrm>
            <a:off x="9888263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2AA1CE4F-D310-0EEC-07BD-449AC6DFDD10}"/>
              </a:ext>
            </a:extLst>
          </p:cNvPr>
          <p:cNvSpPr txBox="1"/>
          <p:nvPr/>
        </p:nvSpPr>
        <p:spPr>
          <a:xfrm>
            <a:off x="9857551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2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0243F9E0-7EF8-0A17-6010-87EECAF01C83}"/>
              </a:ext>
            </a:extLst>
          </p:cNvPr>
          <p:cNvSpPr/>
          <p:nvPr/>
        </p:nvSpPr>
        <p:spPr>
          <a:xfrm>
            <a:off x="10711960" y="5238906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F819D72-0E4F-7A45-235D-CDCFCA338059}"/>
              </a:ext>
            </a:extLst>
          </p:cNvPr>
          <p:cNvSpPr txBox="1"/>
          <p:nvPr/>
        </p:nvSpPr>
        <p:spPr>
          <a:xfrm>
            <a:off x="10681248" y="5308536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3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30A7D230-7E04-5BED-CF3D-D952A4191F5D}"/>
              </a:ext>
            </a:extLst>
          </p:cNvPr>
          <p:cNvSpPr/>
          <p:nvPr/>
        </p:nvSpPr>
        <p:spPr>
          <a:xfrm>
            <a:off x="9064566" y="6057025"/>
            <a:ext cx="2340373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B5C2B6C7-CB0D-F40C-9666-37373EBA7DF7}"/>
              </a:ext>
            </a:extLst>
          </p:cNvPr>
          <p:cNvSpPr txBox="1"/>
          <p:nvPr/>
        </p:nvSpPr>
        <p:spPr>
          <a:xfrm>
            <a:off x="9329244" y="6227279"/>
            <a:ext cx="1849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rgbClr val="0070C0"/>
                </a:solidFill>
              </a:rPr>
              <a:t>Worker 3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12048395-3A85-21E6-91C8-5CDA4D4BA357}"/>
              </a:ext>
            </a:extLst>
          </p:cNvPr>
          <p:cNvSpPr/>
          <p:nvPr/>
        </p:nvSpPr>
        <p:spPr>
          <a:xfrm>
            <a:off x="2760556" y="429597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98A0D24B-0958-7B89-6FED-BCACD48A35C0}"/>
              </a:ext>
            </a:extLst>
          </p:cNvPr>
          <p:cNvSpPr txBox="1"/>
          <p:nvPr/>
        </p:nvSpPr>
        <p:spPr>
          <a:xfrm>
            <a:off x="2729844" y="4327440"/>
            <a:ext cx="79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Bloque  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   4</a:t>
            </a:r>
          </a:p>
        </p:txBody>
      </p:sp>
    </p:spTree>
    <p:extLst>
      <p:ext uri="{BB962C8B-B14F-4D97-AF65-F5344CB8AC3E}">
        <p14:creationId xmlns:p14="http://schemas.microsoft.com/office/powerpoint/2010/main" val="150018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791C100-4DD6-BA49-6306-17361B025DA6}"/>
              </a:ext>
            </a:extLst>
          </p:cNvPr>
          <p:cNvSpPr/>
          <p:nvPr/>
        </p:nvSpPr>
        <p:spPr>
          <a:xfrm>
            <a:off x="6383010" y="339767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8563F5-558B-EB28-28EA-DE98F60D4274}"/>
              </a:ext>
            </a:extLst>
          </p:cNvPr>
          <p:cNvSpPr/>
          <p:nvPr/>
        </p:nvSpPr>
        <p:spPr>
          <a:xfrm>
            <a:off x="3273556" y="308058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2DEAEE-BFF5-8ACC-97FF-BB7D311EC4D1}"/>
              </a:ext>
            </a:extLst>
          </p:cNvPr>
          <p:cNvSpPr txBox="1"/>
          <p:nvPr/>
        </p:nvSpPr>
        <p:spPr>
          <a:xfrm>
            <a:off x="2236253" y="858495"/>
            <a:ext cx="3377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Un clúster Hadoop está conformado </a:t>
            </a:r>
            <a:r>
              <a:rPr lang="es-MX" b="1" dirty="0">
                <a:solidFill>
                  <a:srgbClr val="FF0000"/>
                </a:solidFill>
              </a:rPr>
              <a:t>por al menos un </a:t>
            </a:r>
            <a:r>
              <a:rPr lang="es-MX" dirty="0"/>
              <a:t>nodo llamado "</a:t>
            </a:r>
            <a:r>
              <a:rPr lang="es-MX" b="1" dirty="0"/>
              <a:t>MASTER</a:t>
            </a:r>
            <a:r>
              <a:rPr lang="es-MX" dirty="0"/>
              <a:t>"</a:t>
            </a:r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F842910-AAAE-7E91-2044-BE7687277418}"/>
              </a:ext>
            </a:extLst>
          </p:cNvPr>
          <p:cNvSpPr/>
          <p:nvPr/>
        </p:nvSpPr>
        <p:spPr>
          <a:xfrm>
            <a:off x="6383010" y="1677030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5A24C67-73E3-7262-5209-F9018B3B107C}"/>
              </a:ext>
            </a:extLst>
          </p:cNvPr>
          <p:cNvSpPr/>
          <p:nvPr/>
        </p:nvSpPr>
        <p:spPr>
          <a:xfrm>
            <a:off x="7484226" y="1677030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A6F847-410E-6CEE-A563-E93CAD204EBE}"/>
              </a:ext>
            </a:extLst>
          </p:cNvPr>
          <p:cNvSpPr/>
          <p:nvPr/>
        </p:nvSpPr>
        <p:spPr>
          <a:xfrm>
            <a:off x="8585442" y="1677030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BFD19C-F377-BB4C-D116-1246D334AB83}"/>
              </a:ext>
            </a:extLst>
          </p:cNvPr>
          <p:cNvSpPr/>
          <p:nvPr/>
        </p:nvSpPr>
        <p:spPr>
          <a:xfrm>
            <a:off x="6385461" y="2537352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6CDA30-A4A2-CECD-6B6F-445F3963A8F2}"/>
              </a:ext>
            </a:extLst>
          </p:cNvPr>
          <p:cNvSpPr/>
          <p:nvPr/>
        </p:nvSpPr>
        <p:spPr>
          <a:xfrm>
            <a:off x="7484226" y="2537352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38CD07C-29C9-0A70-834F-E8714B7DE789}"/>
              </a:ext>
            </a:extLst>
          </p:cNvPr>
          <p:cNvSpPr/>
          <p:nvPr/>
        </p:nvSpPr>
        <p:spPr>
          <a:xfrm>
            <a:off x="8585442" y="2537352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D922C-2189-C929-FAA6-DB52ADB89451}"/>
              </a:ext>
            </a:extLst>
          </p:cNvPr>
          <p:cNvSpPr/>
          <p:nvPr/>
        </p:nvSpPr>
        <p:spPr>
          <a:xfrm>
            <a:off x="977729" y="276349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C57334-CEF3-3C7C-0859-655A1BACB7D7}"/>
              </a:ext>
            </a:extLst>
          </p:cNvPr>
          <p:cNvSpPr/>
          <p:nvPr/>
        </p:nvSpPr>
        <p:spPr>
          <a:xfrm>
            <a:off x="7467020" y="339767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6EDA05-5269-34C6-41DA-09A0CE5CA124}"/>
              </a:ext>
            </a:extLst>
          </p:cNvPr>
          <p:cNvSpPr/>
          <p:nvPr/>
        </p:nvSpPr>
        <p:spPr>
          <a:xfrm>
            <a:off x="8585442" y="3397674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55DE2E-A333-2219-0E8E-545060ABF689}"/>
              </a:ext>
            </a:extLst>
          </p:cNvPr>
          <p:cNvSpPr txBox="1"/>
          <p:nvPr/>
        </p:nvSpPr>
        <p:spPr>
          <a:xfrm>
            <a:off x="5913517" y="1081556"/>
            <a:ext cx="456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</a:t>
            </a:r>
            <a:r>
              <a:rPr lang="es-MX" b="1" dirty="0">
                <a:solidFill>
                  <a:srgbClr val="FF0000"/>
                </a:solidFill>
              </a:rPr>
              <a:t>tres o más nodos </a:t>
            </a:r>
            <a:r>
              <a:rPr lang="es-MX" dirty="0"/>
              <a:t>llamados “</a:t>
            </a:r>
            <a:r>
              <a:rPr lang="es-MX" b="1" dirty="0"/>
              <a:t>WORKER</a:t>
            </a:r>
            <a:r>
              <a:rPr lang="es-MX" dirty="0"/>
              <a:t>"</a:t>
            </a:r>
            <a:endParaRPr lang="es-C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F29745-EF1A-FB16-393F-333AD9381F84}"/>
              </a:ext>
            </a:extLst>
          </p:cNvPr>
          <p:cNvSpPr txBox="1"/>
          <p:nvPr/>
        </p:nvSpPr>
        <p:spPr>
          <a:xfrm>
            <a:off x="3516905" y="5478892"/>
            <a:ext cx="5294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nodo "</a:t>
            </a:r>
            <a:r>
              <a:rPr lang="es-MX" b="1" dirty="0"/>
              <a:t>MASTER</a:t>
            </a:r>
            <a:r>
              <a:rPr lang="es-MX" dirty="0"/>
              <a:t>" es el que recibe peticiones de </a:t>
            </a:r>
          </a:p>
          <a:p>
            <a:r>
              <a:rPr lang="es-MX" dirty="0"/>
              <a:t>almacenamiento o procesamiento desde algún cliente y delega el trabajo a los nodos "</a:t>
            </a:r>
            <a:r>
              <a:rPr lang="es-MX" b="1" dirty="0"/>
              <a:t>SLAVE</a:t>
            </a:r>
            <a:r>
              <a:rPr lang="es-MX" dirty="0"/>
              <a:t>"</a:t>
            </a:r>
            <a:endParaRPr lang="es-CL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61F00A8-39A6-B5A6-62CC-C95CF4573BA6}"/>
              </a:ext>
            </a:extLst>
          </p:cNvPr>
          <p:cNvSpPr/>
          <p:nvPr/>
        </p:nvSpPr>
        <p:spPr>
          <a:xfrm>
            <a:off x="3261265" y="2220262"/>
            <a:ext cx="663678" cy="634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0C5CB95-1805-D738-8534-DFEE52AFD20E}"/>
              </a:ext>
            </a:extLst>
          </p:cNvPr>
          <p:cNvSpPr txBox="1"/>
          <p:nvPr/>
        </p:nvSpPr>
        <p:spPr>
          <a:xfrm>
            <a:off x="872038" y="3662522"/>
            <a:ext cx="949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Cliente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F915E9D-04A0-C82F-B846-83C004930AA0}"/>
              </a:ext>
            </a:extLst>
          </p:cNvPr>
          <p:cNvCxnSpPr/>
          <p:nvPr/>
        </p:nvCxnSpPr>
        <p:spPr>
          <a:xfrm>
            <a:off x="1821785" y="3080584"/>
            <a:ext cx="11076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619994F-04C1-FFE0-4ED5-A24F93AFA65B}"/>
              </a:ext>
            </a:extLst>
          </p:cNvPr>
          <p:cNvSpPr/>
          <p:nvPr/>
        </p:nvSpPr>
        <p:spPr>
          <a:xfrm>
            <a:off x="2236253" y="637268"/>
            <a:ext cx="8126361" cy="4734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E82427C-8B7B-F1B2-C77B-B732F8174261}"/>
              </a:ext>
            </a:extLst>
          </p:cNvPr>
          <p:cNvSpPr txBox="1"/>
          <p:nvPr/>
        </p:nvSpPr>
        <p:spPr>
          <a:xfrm>
            <a:off x="10317021" y="673829"/>
            <a:ext cx="1138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Clúster</a:t>
            </a:r>
          </a:p>
          <a:p>
            <a:r>
              <a:rPr lang="es-CL" b="1" dirty="0"/>
              <a:t>HADOOP</a:t>
            </a:r>
          </a:p>
        </p:txBody>
      </p: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C9B49F62-04CB-7843-1526-58AECED1C573}"/>
              </a:ext>
            </a:extLst>
          </p:cNvPr>
          <p:cNvCxnSpPr/>
          <p:nvPr/>
        </p:nvCxnSpPr>
        <p:spPr>
          <a:xfrm>
            <a:off x="4143720" y="2941097"/>
            <a:ext cx="1794387" cy="8080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16376426-5694-6F82-6B36-DC035B073304}"/>
              </a:ext>
            </a:extLst>
          </p:cNvPr>
          <p:cNvCxnSpPr/>
          <p:nvPr/>
        </p:nvCxnSpPr>
        <p:spPr>
          <a:xfrm flipV="1">
            <a:off x="4143720" y="2293365"/>
            <a:ext cx="1790985" cy="648330"/>
          </a:xfrm>
          <a:prstGeom prst="bentConnector3">
            <a:avLst>
              <a:gd name="adj1" fmla="val 5000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312907C-1B46-3EDA-8557-50E636A11F2B}"/>
              </a:ext>
            </a:extLst>
          </p:cNvPr>
          <p:cNvSpPr txBox="1"/>
          <p:nvPr/>
        </p:nvSpPr>
        <p:spPr>
          <a:xfrm>
            <a:off x="51006" y="2006253"/>
            <a:ext cx="22258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dirty="0"/>
              <a:t>El cliente quiere </a:t>
            </a:r>
            <a:r>
              <a:rPr lang="es-MX" sz="1400" dirty="0"/>
              <a:t>procesar </a:t>
            </a:r>
          </a:p>
          <a:p>
            <a:pPr algn="ctr"/>
            <a:r>
              <a:rPr lang="es-MX" sz="1400" dirty="0"/>
              <a:t>una tarea y la </a:t>
            </a:r>
            <a:r>
              <a:rPr lang="es-CL" sz="1400" dirty="0"/>
              <a:t>envía al </a:t>
            </a:r>
          </a:p>
          <a:p>
            <a:pPr algn="ctr"/>
            <a:r>
              <a:rPr lang="es-CL" sz="1400" dirty="0"/>
              <a:t>master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E4F4ADD-334B-0911-2B9A-5A5CD1ED28B6}"/>
              </a:ext>
            </a:extLst>
          </p:cNvPr>
          <p:cNvSpPr txBox="1"/>
          <p:nvPr/>
        </p:nvSpPr>
        <p:spPr>
          <a:xfrm>
            <a:off x="2600240" y="3798341"/>
            <a:ext cx="2363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El "master" recibe la tarea, selecciona los "slave" desocupados y les ordena ejecutar la tarea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FE958E5-18CE-C6CF-F2D3-EC13B7A570D0}"/>
              </a:ext>
            </a:extLst>
          </p:cNvPr>
          <p:cNvSpPr txBox="1"/>
          <p:nvPr/>
        </p:nvSpPr>
        <p:spPr>
          <a:xfrm>
            <a:off x="6265971" y="4135570"/>
            <a:ext cx="3826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Los “slaves” ejecutan las tareas, al finalizar le informan al “master”</a:t>
            </a:r>
            <a:endParaRPr lang="es-CL" sz="14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4792656-B2FF-5173-4E9C-7BE09AEE4A56}"/>
              </a:ext>
            </a:extLst>
          </p:cNvPr>
          <p:cNvSpPr txBox="1"/>
          <p:nvPr/>
        </p:nvSpPr>
        <p:spPr>
          <a:xfrm>
            <a:off x="3230553" y="2344484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1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3E7327C-D9FB-DE55-6E6E-0A474E97D8A8}"/>
              </a:ext>
            </a:extLst>
          </p:cNvPr>
          <p:cNvSpPr txBox="1"/>
          <p:nvPr/>
        </p:nvSpPr>
        <p:spPr>
          <a:xfrm>
            <a:off x="3244077" y="3230597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2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C400065-7F85-0624-C955-D22E387D2FE4}"/>
              </a:ext>
            </a:extLst>
          </p:cNvPr>
          <p:cNvSpPr txBox="1"/>
          <p:nvPr/>
        </p:nvSpPr>
        <p:spPr>
          <a:xfrm>
            <a:off x="6357057" y="1838124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3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27231B7-7B32-8A79-4162-6A5AEB6C4828}"/>
              </a:ext>
            </a:extLst>
          </p:cNvPr>
          <p:cNvSpPr txBox="1"/>
          <p:nvPr/>
        </p:nvSpPr>
        <p:spPr>
          <a:xfrm>
            <a:off x="7448877" y="1838123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4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E159F11-6005-356B-BBF2-D17E3C47E434}"/>
              </a:ext>
            </a:extLst>
          </p:cNvPr>
          <p:cNvSpPr txBox="1"/>
          <p:nvPr/>
        </p:nvSpPr>
        <p:spPr>
          <a:xfrm>
            <a:off x="8560872" y="1838123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5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BBB1007-E32B-6CAF-06DD-73E65BDF6528}"/>
              </a:ext>
            </a:extLst>
          </p:cNvPr>
          <p:cNvSpPr txBox="1"/>
          <p:nvPr/>
        </p:nvSpPr>
        <p:spPr>
          <a:xfrm>
            <a:off x="6355020" y="2684964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6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E2FF77F-F98A-4294-69C8-439FCA18D495}"/>
              </a:ext>
            </a:extLst>
          </p:cNvPr>
          <p:cNvSpPr txBox="1"/>
          <p:nvPr/>
        </p:nvSpPr>
        <p:spPr>
          <a:xfrm>
            <a:off x="7459954" y="2711085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7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AB95FCB-BF99-0838-FF1D-8C4E113AA794}"/>
              </a:ext>
            </a:extLst>
          </p:cNvPr>
          <p:cNvSpPr txBox="1"/>
          <p:nvPr/>
        </p:nvSpPr>
        <p:spPr>
          <a:xfrm>
            <a:off x="8560872" y="2696337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8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22B9E76-9A5C-BBF6-B828-0CC29E1DDE97}"/>
              </a:ext>
            </a:extLst>
          </p:cNvPr>
          <p:cNvSpPr txBox="1"/>
          <p:nvPr/>
        </p:nvSpPr>
        <p:spPr>
          <a:xfrm>
            <a:off x="6339401" y="3570188"/>
            <a:ext cx="795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9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71D0056-A56D-693C-BC9A-811B8B86AC68}"/>
              </a:ext>
            </a:extLst>
          </p:cNvPr>
          <p:cNvSpPr txBox="1"/>
          <p:nvPr/>
        </p:nvSpPr>
        <p:spPr>
          <a:xfrm>
            <a:off x="7517772" y="3468276"/>
            <a:ext cx="663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10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BA002D2-4B18-0851-67E9-E6C1DDBBEC1C}"/>
              </a:ext>
            </a:extLst>
          </p:cNvPr>
          <p:cNvSpPr txBox="1"/>
          <p:nvPr/>
        </p:nvSpPr>
        <p:spPr>
          <a:xfrm>
            <a:off x="8626623" y="3473021"/>
            <a:ext cx="663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rgbClr val="FF0000"/>
                </a:solidFill>
              </a:rPr>
              <a:t>Nodo </a:t>
            </a:r>
          </a:p>
          <a:p>
            <a:r>
              <a:rPr lang="es-CL" sz="1400" b="1" dirty="0">
                <a:solidFill>
                  <a:srgbClr val="FF0000"/>
                </a:solidFill>
              </a:rPr>
              <a:t>   11</a:t>
            </a:r>
          </a:p>
        </p:txBody>
      </p:sp>
      <p:sp>
        <p:nvSpPr>
          <p:cNvPr id="47" name="Título 1">
            <a:extLst>
              <a:ext uri="{FF2B5EF4-FFF2-40B4-BE49-F238E27FC236}">
                <a16:creationId xmlns:a16="http://schemas.microsoft.com/office/drawing/2014/main" id="{E838231E-C042-85BF-9D34-F40AD1702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6053" y="573831"/>
            <a:ext cx="2896595" cy="887970"/>
          </a:xfrm>
        </p:spPr>
        <p:txBody>
          <a:bodyPr>
            <a:noAutofit/>
          </a:bodyPr>
          <a:lstStyle/>
          <a:p>
            <a:pPr algn="ctr"/>
            <a:r>
              <a:rPr lang="es-CL" sz="4400" b="1" dirty="0"/>
              <a:t>Clúster </a:t>
            </a:r>
            <a:br>
              <a:rPr lang="es-CL" sz="4400" b="1" dirty="0"/>
            </a:br>
            <a:r>
              <a:rPr lang="es-CL" sz="4400" b="1" dirty="0"/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330350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90C5CB95-1805-D738-8534-DFEE52AFD20E}"/>
              </a:ext>
            </a:extLst>
          </p:cNvPr>
          <p:cNvSpPr txBox="1"/>
          <p:nvPr/>
        </p:nvSpPr>
        <p:spPr>
          <a:xfrm>
            <a:off x="505183" y="3484398"/>
            <a:ext cx="863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/>
              <a:t>Cliente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F915E9D-04A0-C82F-B846-83C004930AA0}"/>
              </a:ext>
            </a:extLst>
          </p:cNvPr>
          <p:cNvCxnSpPr/>
          <p:nvPr/>
        </p:nvCxnSpPr>
        <p:spPr>
          <a:xfrm>
            <a:off x="1645355" y="3000987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C9B49F62-04CB-7843-1526-58AECED1C573}"/>
              </a:ext>
            </a:extLst>
          </p:cNvPr>
          <p:cNvCxnSpPr/>
          <p:nvPr/>
        </p:nvCxnSpPr>
        <p:spPr>
          <a:xfrm>
            <a:off x="3848110" y="3000987"/>
            <a:ext cx="1794387" cy="8080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16376426-5694-6F82-6B36-DC035B073304}"/>
              </a:ext>
            </a:extLst>
          </p:cNvPr>
          <p:cNvCxnSpPr/>
          <p:nvPr/>
        </p:nvCxnSpPr>
        <p:spPr>
          <a:xfrm flipV="1">
            <a:off x="3851512" y="2178801"/>
            <a:ext cx="1790985" cy="810000"/>
          </a:xfrm>
          <a:prstGeom prst="bentConnector3">
            <a:avLst>
              <a:gd name="adj1" fmla="val 5000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ítulo 1">
            <a:extLst>
              <a:ext uri="{FF2B5EF4-FFF2-40B4-BE49-F238E27FC236}">
                <a16:creationId xmlns:a16="http://schemas.microsoft.com/office/drawing/2014/main" id="{E838231E-C042-85BF-9D34-F40AD1702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036" y="278340"/>
            <a:ext cx="5414247" cy="887970"/>
          </a:xfrm>
        </p:spPr>
        <p:txBody>
          <a:bodyPr>
            <a:noAutofit/>
          </a:bodyPr>
          <a:lstStyle/>
          <a:p>
            <a:pPr algn="ctr"/>
            <a:r>
              <a:rPr lang="es-CL" sz="4400" b="1" dirty="0"/>
              <a:t>Clúster Hadoop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9596A98-B5AA-B1E4-97BC-0E4958172A95}"/>
              </a:ext>
            </a:extLst>
          </p:cNvPr>
          <p:cNvSpPr txBox="1"/>
          <p:nvPr/>
        </p:nvSpPr>
        <p:spPr>
          <a:xfrm>
            <a:off x="2540995" y="1450888"/>
            <a:ext cx="1257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Master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90CC440-C51C-641A-2108-E7FD9113812A}"/>
              </a:ext>
            </a:extLst>
          </p:cNvPr>
          <p:cNvSpPr/>
          <p:nvPr/>
        </p:nvSpPr>
        <p:spPr>
          <a:xfrm>
            <a:off x="2473610" y="1784892"/>
            <a:ext cx="1257934" cy="10420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60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C5E8970-A764-C3BF-A1D8-B431EDC1AE79}"/>
              </a:ext>
            </a:extLst>
          </p:cNvPr>
          <p:cNvSpPr/>
          <p:nvPr/>
        </p:nvSpPr>
        <p:spPr>
          <a:xfrm>
            <a:off x="2558850" y="2014058"/>
            <a:ext cx="1094400" cy="57146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1" dirty="0"/>
              <a:t>Name</a:t>
            </a:r>
          </a:p>
          <a:p>
            <a:pPr algn="ctr"/>
            <a:r>
              <a:rPr lang="es-CL" sz="1600" b="1" dirty="0"/>
              <a:t>Node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5AFD0CE-6D8A-9D66-96A8-A2F45E9A59C7}"/>
              </a:ext>
            </a:extLst>
          </p:cNvPr>
          <p:cNvSpPr txBox="1"/>
          <p:nvPr/>
        </p:nvSpPr>
        <p:spPr>
          <a:xfrm>
            <a:off x="2534431" y="3004829"/>
            <a:ext cx="1257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Master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3B9AAE-6F49-EF19-EC03-0C6E98CF1FAE}"/>
              </a:ext>
            </a:extLst>
          </p:cNvPr>
          <p:cNvSpPr/>
          <p:nvPr/>
        </p:nvSpPr>
        <p:spPr>
          <a:xfrm>
            <a:off x="2481794" y="3338833"/>
            <a:ext cx="1257934" cy="10420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6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BA50E18-275C-36F2-F324-5C9D689BC1B0}"/>
              </a:ext>
            </a:extLst>
          </p:cNvPr>
          <p:cNvSpPr/>
          <p:nvPr/>
        </p:nvSpPr>
        <p:spPr>
          <a:xfrm>
            <a:off x="2567035" y="3567999"/>
            <a:ext cx="1092445" cy="57146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1" dirty="0"/>
              <a:t>Resource</a:t>
            </a:r>
          </a:p>
          <a:p>
            <a:pPr algn="ctr"/>
            <a:r>
              <a:rPr lang="es-CL" sz="1600" b="1" dirty="0"/>
              <a:t>Manager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46B181F-6E8C-EE2C-05DA-9C0C5BFC94B3}"/>
              </a:ext>
            </a:extLst>
          </p:cNvPr>
          <p:cNvSpPr/>
          <p:nvPr/>
        </p:nvSpPr>
        <p:spPr>
          <a:xfrm>
            <a:off x="464822" y="2731480"/>
            <a:ext cx="990108" cy="678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60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7E9453ED-945C-FD22-0942-EBF7492980E8}"/>
              </a:ext>
            </a:extLst>
          </p:cNvPr>
          <p:cNvSpPr/>
          <p:nvPr/>
        </p:nvSpPr>
        <p:spPr>
          <a:xfrm>
            <a:off x="6096000" y="951366"/>
            <a:ext cx="1008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FCB919A-B9D0-FA22-AFB4-6B69996386B6}"/>
              </a:ext>
            </a:extLst>
          </p:cNvPr>
          <p:cNvSpPr/>
          <p:nvPr/>
        </p:nvSpPr>
        <p:spPr>
          <a:xfrm>
            <a:off x="6156283" y="1047704"/>
            <a:ext cx="896658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DataNode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138527F9-906B-B9B5-4788-6ADD14237072}"/>
              </a:ext>
            </a:extLst>
          </p:cNvPr>
          <p:cNvSpPr/>
          <p:nvPr/>
        </p:nvSpPr>
        <p:spPr>
          <a:xfrm>
            <a:off x="6156283" y="1509122"/>
            <a:ext cx="896400" cy="46377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Node</a:t>
            </a:r>
          </a:p>
          <a:p>
            <a:pPr algn="ctr"/>
            <a:r>
              <a:rPr lang="es-CL" sz="1200" b="1" dirty="0"/>
              <a:t>Manager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6B2E800-8FF2-4659-AC46-FEC4D0089E98}"/>
              </a:ext>
            </a:extLst>
          </p:cNvPr>
          <p:cNvSpPr txBox="1"/>
          <p:nvPr/>
        </p:nvSpPr>
        <p:spPr>
          <a:xfrm>
            <a:off x="6017537" y="637514"/>
            <a:ext cx="1234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Worker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F8DEECDC-1193-88FC-E39D-D8AA1CC8786A}"/>
              </a:ext>
            </a:extLst>
          </p:cNvPr>
          <p:cNvSpPr/>
          <p:nvPr/>
        </p:nvSpPr>
        <p:spPr>
          <a:xfrm>
            <a:off x="6096000" y="2437596"/>
            <a:ext cx="1008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BC6916F5-8E1B-3C83-8E88-864DC5716B5E}"/>
              </a:ext>
            </a:extLst>
          </p:cNvPr>
          <p:cNvSpPr/>
          <p:nvPr/>
        </p:nvSpPr>
        <p:spPr>
          <a:xfrm>
            <a:off x="6156283" y="2533934"/>
            <a:ext cx="896658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DataNode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F6AE526-6802-318D-F287-A01C511F08B7}"/>
              </a:ext>
            </a:extLst>
          </p:cNvPr>
          <p:cNvSpPr/>
          <p:nvPr/>
        </p:nvSpPr>
        <p:spPr>
          <a:xfrm>
            <a:off x="6156283" y="2995352"/>
            <a:ext cx="896400" cy="46377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Node</a:t>
            </a:r>
          </a:p>
          <a:p>
            <a:pPr algn="ctr"/>
            <a:r>
              <a:rPr lang="es-CL" sz="1200" b="1" dirty="0"/>
              <a:t>Manager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2363F713-A4F0-BC47-82FB-1ACF83BF7886}"/>
              </a:ext>
            </a:extLst>
          </p:cNvPr>
          <p:cNvSpPr txBox="1"/>
          <p:nvPr/>
        </p:nvSpPr>
        <p:spPr>
          <a:xfrm>
            <a:off x="6017537" y="2123744"/>
            <a:ext cx="1234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Worker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A6F1768-A2C3-97B9-9E72-908D8D6CDA1D}"/>
              </a:ext>
            </a:extLst>
          </p:cNvPr>
          <p:cNvSpPr/>
          <p:nvPr/>
        </p:nvSpPr>
        <p:spPr>
          <a:xfrm>
            <a:off x="6098954" y="3918458"/>
            <a:ext cx="1008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262B45D9-678F-4221-CED8-7B24210B25F9}"/>
              </a:ext>
            </a:extLst>
          </p:cNvPr>
          <p:cNvSpPr/>
          <p:nvPr/>
        </p:nvSpPr>
        <p:spPr>
          <a:xfrm>
            <a:off x="6159237" y="4014796"/>
            <a:ext cx="896658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DataNode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F8AA3984-945D-FE70-4103-40B697665289}"/>
              </a:ext>
            </a:extLst>
          </p:cNvPr>
          <p:cNvSpPr/>
          <p:nvPr/>
        </p:nvSpPr>
        <p:spPr>
          <a:xfrm>
            <a:off x="6159237" y="4476214"/>
            <a:ext cx="896400" cy="46377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1" dirty="0"/>
              <a:t>Node</a:t>
            </a:r>
          </a:p>
          <a:p>
            <a:pPr algn="ctr"/>
            <a:r>
              <a:rPr lang="es-CL" sz="1200" b="1" dirty="0"/>
              <a:t>Manager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F32EF504-8ABB-8451-1269-811FAACD2D8B}"/>
              </a:ext>
            </a:extLst>
          </p:cNvPr>
          <p:cNvSpPr txBox="1"/>
          <p:nvPr/>
        </p:nvSpPr>
        <p:spPr>
          <a:xfrm>
            <a:off x="6020491" y="3604606"/>
            <a:ext cx="1234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Worker</a:t>
            </a:r>
          </a:p>
        </p:txBody>
      </p:sp>
      <p:pic>
        <p:nvPicPr>
          <p:cNvPr id="82" name="Imagen 81" descr="Logotipo&#10;&#10;Descripción generada automáticamente">
            <a:extLst>
              <a:ext uri="{FF2B5EF4-FFF2-40B4-BE49-F238E27FC236}">
                <a16:creationId xmlns:a16="http://schemas.microsoft.com/office/drawing/2014/main" id="{060B4B1A-8802-25F4-68BA-8BF85335A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357" y="4968393"/>
            <a:ext cx="2805154" cy="1880330"/>
          </a:xfrm>
          <a:prstGeom prst="rect">
            <a:avLst/>
          </a:prstGeom>
        </p:spPr>
      </p:pic>
      <p:sp>
        <p:nvSpPr>
          <p:cNvPr id="83" name="Rectángulo 82">
            <a:extLst>
              <a:ext uri="{FF2B5EF4-FFF2-40B4-BE49-F238E27FC236}">
                <a16:creationId xmlns:a16="http://schemas.microsoft.com/office/drawing/2014/main" id="{8A3DE616-A437-E47C-97A1-8512DE282151}"/>
              </a:ext>
            </a:extLst>
          </p:cNvPr>
          <p:cNvSpPr/>
          <p:nvPr/>
        </p:nvSpPr>
        <p:spPr>
          <a:xfrm>
            <a:off x="250723" y="278340"/>
            <a:ext cx="7123471" cy="4942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822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90C5CB95-1805-D738-8534-DFEE52AFD20E}"/>
              </a:ext>
            </a:extLst>
          </p:cNvPr>
          <p:cNvSpPr txBox="1"/>
          <p:nvPr/>
        </p:nvSpPr>
        <p:spPr>
          <a:xfrm>
            <a:off x="505183" y="3484398"/>
            <a:ext cx="863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/>
              <a:t>Cliente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F915E9D-04A0-C82F-B846-83C004930AA0}"/>
              </a:ext>
            </a:extLst>
          </p:cNvPr>
          <p:cNvCxnSpPr/>
          <p:nvPr/>
        </p:nvCxnSpPr>
        <p:spPr>
          <a:xfrm>
            <a:off x="1645355" y="3000987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ítulo 1">
            <a:extLst>
              <a:ext uri="{FF2B5EF4-FFF2-40B4-BE49-F238E27FC236}">
                <a16:creationId xmlns:a16="http://schemas.microsoft.com/office/drawing/2014/main" id="{E838231E-C042-85BF-9D34-F40AD1702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036" y="278340"/>
            <a:ext cx="5414247" cy="887970"/>
          </a:xfrm>
        </p:spPr>
        <p:txBody>
          <a:bodyPr>
            <a:noAutofit/>
          </a:bodyPr>
          <a:lstStyle/>
          <a:p>
            <a:pPr algn="ctr"/>
            <a:r>
              <a:rPr lang="es-CL" sz="4400" b="1" dirty="0"/>
              <a:t>Clúster Hadoop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9596A98-B5AA-B1E4-97BC-0E4958172A95}"/>
              </a:ext>
            </a:extLst>
          </p:cNvPr>
          <p:cNvSpPr txBox="1"/>
          <p:nvPr/>
        </p:nvSpPr>
        <p:spPr>
          <a:xfrm>
            <a:off x="2519357" y="2031366"/>
            <a:ext cx="1257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Master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90CC440-C51C-641A-2108-E7FD9113812A}"/>
              </a:ext>
            </a:extLst>
          </p:cNvPr>
          <p:cNvSpPr/>
          <p:nvPr/>
        </p:nvSpPr>
        <p:spPr>
          <a:xfrm>
            <a:off x="2471474" y="2370307"/>
            <a:ext cx="1257934" cy="14509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60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C5E8970-A764-C3BF-A1D8-B431EDC1AE79}"/>
              </a:ext>
            </a:extLst>
          </p:cNvPr>
          <p:cNvSpPr/>
          <p:nvPr/>
        </p:nvSpPr>
        <p:spPr>
          <a:xfrm>
            <a:off x="2556714" y="2494759"/>
            <a:ext cx="1094400" cy="57146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1" dirty="0"/>
              <a:t>Name</a:t>
            </a:r>
          </a:p>
          <a:p>
            <a:pPr algn="ctr"/>
            <a:r>
              <a:rPr lang="es-CL" sz="1600" b="1" dirty="0"/>
              <a:t>Node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BA50E18-275C-36F2-F324-5C9D689BC1B0}"/>
              </a:ext>
            </a:extLst>
          </p:cNvPr>
          <p:cNvSpPr/>
          <p:nvPr/>
        </p:nvSpPr>
        <p:spPr>
          <a:xfrm>
            <a:off x="2558669" y="3150506"/>
            <a:ext cx="1092445" cy="57146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1" dirty="0"/>
              <a:t>Resource</a:t>
            </a:r>
          </a:p>
          <a:p>
            <a:pPr algn="ctr"/>
            <a:r>
              <a:rPr lang="es-CL" sz="1600" b="1" dirty="0"/>
              <a:t>Manager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46B181F-6E8C-EE2C-05DA-9C0C5BFC94B3}"/>
              </a:ext>
            </a:extLst>
          </p:cNvPr>
          <p:cNvSpPr/>
          <p:nvPr/>
        </p:nvSpPr>
        <p:spPr>
          <a:xfrm>
            <a:off x="464822" y="2731480"/>
            <a:ext cx="990108" cy="678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600"/>
          </a:p>
        </p:txBody>
      </p:sp>
      <p:pic>
        <p:nvPicPr>
          <p:cNvPr id="82" name="Imagen 81" descr="Logotipo&#10;&#10;Descripción generada automáticamente">
            <a:extLst>
              <a:ext uri="{FF2B5EF4-FFF2-40B4-BE49-F238E27FC236}">
                <a16:creationId xmlns:a16="http://schemas.microsoft.com/office/drawing/2014/main" id="{060B4B1A-8802-25F4-68BA-8BF85335A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951" y="304924"/>
            <a:ext cx="2805154" cy="1880330"/>
          </a:xfrm>
          <a:prstGeom prst="rect">
            <a:avLst/>
          </a:prstGeom>
        </p:spPr>
      </p:pic>
      <p:sp>
        <p:nvSpPr>
          <p:cNvPr id="83" name="Rectángulo 82">
            <a:extLst>
              <a:ext uri="{FF2B5EF4-FFF2-40B4-BE49-F238E27FC236}">
                <a16:creationId xmlns:a16="http://schemas.microsoft.com/office/drawing/2014/main" id="{8A3DE616-A437-E47C-97A1-8512DE282151}"/>
              </a:ext>
            </a:extLst>
          </p:cNvPr>
          <p:cNvSpPr/>
          <p:nvPr/>
        </p:nvSpPr>
        <p:spPr>
          <a:xfrm>
            <a:off x="250723" y="278340"/>
            <a:ext cx="10295922" cy="61224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CD9092F0-C806-D93A-DD6A-06618A5F1F0D}"/>
              </a:ext>
            </a:extLst>
          </p:cNvPr>
          <p:cNvCxnSpPr/>
          <p:nvPr/>
        </p:nvCxnSpPr>
        <p:spPr>
          <a:xfrm>
            <a:off x="3921934" y="2995352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2DED59E-F42B-AF2E-A7D8-DB6DDAA9F5E0}"/>
              </a:ext>
            </a:extLst>
          </p:cNvPr>
          <p:cNvSpPr txBox="1"/>
          <p:nvPr/>
        </p:nvSpPr>
        <p:spPr>
          <a:xfrm>
            <a:off x="4867236" y="2031366"/>
            <a:ext cx="1257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Nodo Worker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5D0FB2-A0B8-2142-6EF3-CE9E079E7937}"/>
              </a:ext>
            </a:extLst>
          </p:cNvPr>
          <p:cNvSpPr/>
          <p:nvPr/>
        </p:nvSpPr>
        <p:spPr>
          <a:xfrm>
            <a:off x="4819353" y="2370307"/>
            <a:ext cx="1257934" cy="14509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6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0AADD3-7946-81D5-942F-68C0035FE8B2}"/>
              </a:ext>
            </a:extLst>
          </p:cNvPr>
          <p:cNvSpPr/>
          <p:nvPr/>
        </p:nvSpPr>
        <p:spPr>
          <a:xfrm>
            <a:off x="4904593" y="2494759"/>
            <a:ext cx="1094400" cy="57146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1" dirty="0"/>
              <a:t>Data </a:t>
            </a:r>
            <a:r>
              <a:rPr lang="es-CL" sz="1600" b="1" dirty="0" err="1"/>
              <a:t>Node</a:t>
            </a:r>
            <a:endParaRPr lang="es-CL" sz="16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FE43FE-6F63-E0EF-0554-6E7489575C66}"/>
              </a:ext>
            </a:extLst>
          </p:cNvPr>
          <p:cNvSpPr/>
          <p:nvPr/>
        </p:nvSpPr>
        <p:spPr>
          <a:xfrm>
            <a:off x="4906548" y="3150506"/>
            <a:ext cx="1092445" cy="57146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1" dirty="0" err="1"/>
              <a:t>Node</a:t>
            </a:r>
            <a:endParaRPr lang="es-CL" sz="1600" b="1" dirty="0"/>
          </a:p>
          <a:p>
            <a:pPr algn="ctr"/>
            <a:r>
              <a:rPr lang="es-CL" sz="1600" b="1" dirty="0"/>
              <a:t>Manager</a:t>
            </a:r>
          </a:p>
        </p:txBody>
      </p:sp>
    </p:spTree>
    <p:extLst>
      <p:ext uri="{BB962C8B-B14F-4D97-AF65-F5344CB8AC3E}">
        <p14:creationId xmlns:p14="http://schemas.microsoft.com/office/powerpoint/2010/main" val="178773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FD56C-28C0-63F7-D6B1-0845DEE2F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775" y="395785"/>
            <a:ext cx="9144000" cy="887970"/>
          </a:xfrm>
        </p:spPr>
        <p:txBody>
          <a:bodyPr>
            <a:normAutofit fontScale="90000"/>
          </a:bodyPr>
          <a:lstStyle/>
          <a:p>
            <a:pPr algn="ctr"/>
            <a:r>
              <a:rPr lang="es-CL" b="1" dirty="0"/>
              <a:t>Nodo Master o Nodos Master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AE795271-28F9-7906-0930-B2EB25A4C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4775" y="1275096"/>
            <a:ext cx="9144000" cy="778893"/>
          </a:xfrm>
        </p:spPr>
        <p:txBody>
          <a:bodyPr/>
          <a:lstStyle/>
          <a:p>
            <a:r>
              <a:rPr lang="es-MX" dirty="0"/>
              <a:t>Un clúster Hadoop está conformado </a:t>
            </a:r>
            <a:r>
              <a:rPr lang="es-MX" b="1" dirty="0">
                <a:solidFill>
                  <a:srgbClr val="FF0000"/>
                </a:solidFill>
              </a:rPr>
              <a:t>por al menos un </a:t>
            </a:r>
            <a:r>
              <a:rPr lang="es-MX" dirty="0"/>
              <a:t>nodo llamado "</a:t>
            </a:r>
            <a:r>
              <a:rPr lang="es-MX" b="1" dirty="0"/>
              <a:t>MASTER</a:t>
            </a:r>
            <a:r>
              <a:rPr lang="es-MX" dirty="0"/>
              <a:t>"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DD7841-5AE1-DF86-2436-44FC28D526BF}"/>
              </a:ext>
            </a:extLst>
          </p:cNvPr>
          <p:cNvSpPr/>
          <p:nvPr/>
        </p:nvSpPr>
        <p:spPr>
          <a:xfrm>
            <a:off x="1364775" y="3000479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264226-6ECB-A62D-FA7A-28A8F4B4F8E2}"/>
              </a:ext>
            </a:extLst>
          </p:cNvPr>
          <p:cNvSpPr/>
          <p:nvPr/>
        </p:nvSpPr>
        <p:spPr>
          <a:xfrm>
            <a:off x="1508080" y="3183341"/>
            <a:ext cx="1610431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NameNode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0D5DB6-BA9D-B894-F558-2BE1079C640A}"/>
              </a:ext>
            </a:extLst>
          </p:cNvPr>
          <p:cNvSpPr/>
          <p:nvPr/>
        </p:nvSpPr>
        <p:spPr>
          <a:xfrm>
            <a:off x="1508080" y="3691711"/>
            <a:ext cx="1610431" cy="769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Resource</a:t>
            </a:r>
          </a:p>
          <a:p>
            <a:pPr algn="ctr"/>
            <a:r>
              <a:rPr lang="es-CL" b="1" dirty="0"/>
              <a:t>Manager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8DA754-729F-7424-534A-DCF51CE02815}"/>
              </a:ext>
            </a:extLst>
          </p:cNvPr>
          <p:cNvSpPr txBox="1"/>
          <p:nvPr/>
        </p:nvSpPr>
        <p:spPr>
          <a:xfrm>
            <a:off x="1617258" y="2604180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Master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73C49E-2150-DAC4-95FA-E1F6DF6065F3}"/>
              </a:ext>
            </a:extLst>
          </p:cNvPr>
          <p:cNvSpPr txBox="1"/>
          <p:nvPr/>
        </p:nvSpPr>
        <p:spPr>
          <a:xfrm>
            <a:off x="5904929" y="2592236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Master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240BB1-4F92-55F5-E68E-BEA79E674E39}"/>
              </a:ext>
            </a:extLst>
          </p:cNvPr>
          <p:cNvSpPr txBox="1"/>
          <p:nvPr/>
        </p:nvSpPr>
        <p:spPr>
          <a:xfrm>
            <a:off x="9155371" y="2592236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Master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F45492E-0743-C71F-6523-6DBBF0759335}"/>
              </a:ext>
            </a:extLst>
          </p:cNvPr>
          <p:cNvSpPr txBox="1"/>
          <p:nvPr/>
        </p:nvSpPr>
        <p:spPr>
          <a:xfrm>
            <a:off x="866630" y="2016987"/>
            <a:ext cx="3002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Podemos tener el </a:t>
            </a:r>
            <a:r>
              <a:rPr lang="es-CL" sz="1400" b="1" dirty="0"/>
              <a:t>NameNode</a:t>
            </a:r>
            <a:r>
              <a:rPr lang="es-CL" sz="1400" dirty="0"/>
              <a:t> y el </a:t>
            </a:r>
            <a:r>
              <a:rPr lang="es-CL" sz="1400" b="1" dirty="0"/>
              <a:t>ResourceManager</a:t>
            </a:r>
            <a:r>
              <a:rPr lang="es-CL" sz="1400" dirty="0"/>
              <a:t> en un solo nodo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E8FA673-C396-0454-8884-EF087FA9E526}"/>
              </a:ext>
            </a:extLst>
          </p:cNvPr>
          <p:cNvSpPr txBox="1"/>
          <p:nvPr/>
        </p:nvSpPr>
        <p:spPr>
          <a:xfrm>
            <a:off x="5306704" y="2165392"/>
            <a:ext cx="5916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Podemos tener el </a:t>
            </a:r>
            <a:r>
              <a:rPr lang="es-CL" sz="1400" b="1" dirty="0"/>
              <a:t>NameNode</a:t>
            </a:r>
            <a:r>
              <a:rPr lang="es-CL" sz="1400" dirty="0"/>
              <a:t> y el </a:t>
            </a:r>
            <a:r>
              <a:rPr lang="es-CL" sz="1400" b="1" dirty="0"/>
              <a:t>ResourceManager</a:t>
            </a:r>
            <a:r>
              <a:rPr lang="es-CL" sz="1400" dirty="0"/>
              <a:t> en nodos separados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A68ADC3-14DF-9173-12BB-57D28F6DB80B}"/>
              </a:ext>
            </a:extLst>
          </p:cNvPr>
          <p:cNvSpPr/>
          <p:nvPr/>
        </p:nvSpPr>
        <p:spPr>
          <a:xfrm>
            <a:off x="5570569" y="3016399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3533612-A370-AD00-7533-4E4CB41656ED}"/>
              </a:ext>
            </a:extLst>
          </p:cNvPr>
          <p:cNvSpPr/>
          <p:nvPr/>
        </p:nvSpPr>
        <p:spPr>
          <a:xfrm>
            <a:off x="5754816" y="3534776"/>
            <a:ext cx="1610431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NameNode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BD98679-4435-E235-098E-1769D8F5D62E}"/>
              </a:ext>
            </a:extLst>
          </p:cNvPr>
          <p:cNvSpPr/>
          <p:nvPr/>
        </p:nvSpPr>
        <p:spPr>
          <a:xfrm>
            <a:off x="8875607" y="3032319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116AAE5-2C20-C449-EABC-C1454D7C4C4B}"/>
              </a:ext>
            </a:extLst>
          </p:cNvPr>
          <p:cNvSpPr/>
          <p:nvPr/>
        </p:nvSpPr>
        <p:spPr>
          <a:xfrm>
            <a:off x="9073489" y="3429000"/>
            <a:ext cx="1610431" cy="769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Resource</a:t>
            </a:r>
          </a:p>
          <a:p>
            <a:pPr algn="ctr"/>
            <a:r>
              <a:rPr lang="es-CL" b="1" dirty="0"/>
              <a:t>Manager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1E10362-3F1E-8341-A7F9-2C4A4B0DCE81}"/>
              </a:ext>
            </a:extLst>
          </p:cNvPr>
          <p:cNvSpPr txBox="1"/>
          <p:nvPr/>
        </p:nvSpPr>
        <p:spPr>
          <a:xfrm>
            <a:off x="532270" y="505968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NameNode: </a:t>
            </a:r>
            <a:r>
              <a:rPr lang="es-MX" sz="1400" dirty="0"/>
              <a:t>Almacena los metadatos (estructuras de carpetas, tamaño de bloques)</a:t>
            </a:r>
          </a:p>
          <a:p>
            <a:r>
              <a:rPr lang="es-CL" sz="1400" b="1" dirty="0"/>
              <a:t>ResourceManager</a:t>
            </a:r>
            <a:r>
              <a:rPr lang="es-CL" sz="1400" dirty="0"/>
              <a:t> : Decide sobre que nodos slaves separar los recursos</a:t>
            </a:r>
          </a:p>
        </p:txBody>
      </p:sp>
    </p:spTree>
    <p:extLst>
      <p:ext uri="{BB962C8B-B14F-4D97-AF65-F5344CB8AC3E}">
        <p14:creationId xmlns:p14="http://schemas.microsoft.com/office/powerpoint/2010/main" val="422399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FD56C-28C0-63F7-D6B1-0845DEE2F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775" y="395785"/>
            <a:ext cx="9144000" cy="887970"/>
          </a:xfrm>
        </p:spPr>
        <p:txBody>
          <a:bodyPr>
            <a:normAutofit fontScale="90000"/>
          </a:bodyPr>
          <a:lstStyle/>
          <a:p>
            <a:pPr algn="ctr"/>
            <a:r>
              <a:rPr lang="es-CL" b="1" dirty="0"/>
              <a:t>Nodos Slave o Workers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AE795271-28F9-7906-0930-B2EB25A4C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4775" y="1275096"/>
            <a:ext cx="9144000" cy="778893"/>
          </a:xfrm>
        </p:spPr>
        <p:txBody>
          <a:bodyPr/>
          <a:lstStyle/>
          <a:p>
            <a:r>
              <a:rPr lang="es-MX" dirty="0"/>
              <a:t>Un clúster Hadoop está conformado </a:t>
            </a:r>
            <a:r>
              <a:rPr lang="es-MX" b="1" dirty="0">
                <a:solidFill>
                  <a:srgbClr val="FF0000"/>
                </a:solidFill>
              </a:rPr>
              <a:t>por tres o más </a:t>
            </a:r>
            <a:r>
              <a:rPr lang="es-MX" dirty="0"/>
              <a:t>nodos llamados “</a:t>
            </a:r>
            <a:r>
              <a:rPr lang="es-MX" b="1" dirty="0"/>
              <a:t>WORKERS</a:t>
            </a:r>
            <a:r>
              <a:rPr lang="es-MX" dirty="0"/>
              <a:t>"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DD7841-5AE1-DF86-2436-44FC28D526BF}"/>
              </a:ext>
            </a:extLst>
          </p:cNvPr>
          <p:cNvSpPr/>
          <p:nvPr/>
        </p:nvSpPr>
        <p:spPr>
          <a:xfrm>
            <a:off x="1446666" y="2795761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264226-6ECB-A62D-FA7A-28A8F4B4F8E2}"/>
              </a:ext>
            </a:extLst>
          </p:cNvPr>
          <p:cNvSpPr/>
          <p:nvPr/>
        </p:nvSpPr>
        <p:spPr>
          <a:xfrm>
            <a:off x="1589971" y="2978623"/>
            <a:ext cx="1610431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DataNode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0D5DB6-BA9D-B894-F558-2BE1079C640A}"/>
              </a:ext>
            </a:extLst>
          </p:cNvPr>
          <p:cNvSpPr/>
          <p:nvPr/>
        </p:nvSpPr>
        <p:spPr>
          <a:xfrm>
            <a:off x="1589971" y="3486993"/>
            <a:ext cx="1610431" cy="769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Node</a:t>
            </a:r>
          </a:p>
          <a:p>
            <a:pPr algn="ctr"/>
            <a:r>
              <a:rPr lang="es-CL" b="1" dirty="0"/>
              <a:t>Manager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8DA754-729F-7424-534A-DCF51CE02815}"/>
              </a:ext>
            </a:extLst>
          </p:cNvPr>
          <p:cNvSpPr txBox="1"/>
          <p:nvPr/>
        </p:nvSpPr>
        <p:spPr>
          <a:xfrm>
            <a:off x="1699149" y="2399462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Worker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1E10362-3F1E-8341-A7F9-2C4A4B0DCE81}"/>
              </a:ext>
            </a:extLst>
          </p:cNvPr>
          <p:cNvSpPr txBox="1"/>
          <p:nvPr/>
        </p:nvSpPr>
        <p:spPr>
          <a:xfrm>
            <a:off x="532270" y="5059684"/>
            <a:ext cx="9635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DataNode: </a:t>
            </a:r>
            <a:r>
              <a:rPr lang="es-MX" sz="1400" dirty="0"/>
              <a:t>Mantiene los bloques de datos, almacena los datos subidos al clúster.</a:t>
            </a:r>
          </a:p>
          <a:p>
            <a:r>
              <a:rPr lang="es-CL" sz="1400" b="1" dirty="0"/>
              <a:t>NodeManager</a:t>
            </a:r>
            <a:r>
              <a:rPr lang="es-CL" sz="1400" dirty="0"/>
              <a:t> : </a:t>
            </a:r>
            <a:r>
              <a:rPr lang="es-MX" sz="1400" dirty="0"/>
              <a:t>Ejecuta las decisiones tomadas por el Resource Manager y separa sobre el nodo los recursos solicitados.</a:t>
            </a:r>
            <a:endParaRPr lang="es-CL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DEEC4C-A042-619C-E947-134638016EB3}"/>
              </a:ext>
            </a:extLst>
          </p:cNvPr>
          <p:cNvSpPr/>
          <p:nvPr/>
        </p:nvSpPr>
        <p:spPr>
          <a:xfrm>
            <a:off x="3864598" y="2798033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7F5790-8CEA-6E08-D971-2AF8658C777C}"/>
              </a:ext>
            </a:extLst>
          </p:cNvPr>
          <p:cNvSpPr/>
          <p:nvPr/>
        </p:nvSpPr>
        <p:spPr>
          <a:xfrm>
            <a:off x="4007903" y="2980895"/>
            <a:ext cx="1610431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DataNode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D426E3-9E94-A4C7-B61A-BF4E86FFAFF5}"/>
              </a:ext>
            </a:extLst>
          </p:cNvPr>
          <p:cNvSpPr/>
          <p:nvPr/>
        </p:nvSpPr>
        <p:spPr>
          <a:xfrm>
            <a:off x="4007903" y="3489265"/>
            <a:ext cx="1610431" cy="769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Node</a:t>
            </a:r>
          </a:p>
          <a:p>
            <a:pPr algn="ctr"/>
            <a:r>
              <a:rPr lang="es-CL" b="1" dirty="0"/>
              <a:t>Manager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72CC7E-B666-3CA5-ED5D-EAD52D8C7CF7}"/>
              </a:ext>
            </a:extLst>
          </p:cNvPr>
          <p:cNvSpPr txBox="1"/>
          <p:nvPr/>
        </p:nvSpPr>
        <p:spPr>
          <a:xfrm>
            <a:off x="4117081" y="2415382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Worker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976FA0-1C5B-B7BE-5E1E-5E51369D9BDF}"/>
              </a:ext>
            </a:extLst>
          </p:cNvPr>
          <p:cNvSpPr/>
          <p:nvPr/>
        </p:nvSpPr>
        <p:spPr>
          <a:xfrm>
            <a:off x="6293910" y="2784386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FCE2C8F-467D-64A0-F0D0-3E96AA774361}"/>
              </a:ext>
            </a:extLst>
          </p:cNvPr>
          <p:cNvSpPr/>
          <p:nvPr/>
        </p:nvSpPr>
        <p:spPr>
          <a:xfrm>
            <a:off x="6437215" y="2967248"/>
            <a:ext cx="1610431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DataNode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E1F0FE6-3652-B2C0-EE9D-6D764AB40B4D}"/>
              </a:ext>
            </a:extLst>
          </p:cNvPr>
          <p:cNvSpPr/>
          <p:nvPr/>
        </p:nvSpPr>
        <p:spPr>
          <a:xfrm>
            <a:off x="6437215" y="3475618"/>
            <a:ext cx="1610431" cy="769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Node</a:t>
            </a:r>
          </a:p>
          <a:p>
            <a:pPr algn="ctr"/>
            <a:r>
              <a:rPr lang="es-CL" b="1" dirty="0"/>
              <a:t>Manager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2936ECB-F5CC-B0C8-B021-6D81F61D957E}"/>
              </a:ext>
            </a:extLst>
          </p:cNvPr>
          <p:cNvSpPr txBox="1"/>
          <p:nvPr/>
        </p:nvSpPr>
        <p:spPr>
          <a:xfrm>
            <a:off x="6546393" y="2388087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Worker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838FB39-BAD9-8E74-5DDE-CEC4BE48899C}"/>
              </a:ext>
            </a:extLst>
          </p:cNvPr>
          <p:cNvSpPr/>
          <p:nvPr/>
        </p:nvSpPr>
        <p:spPr>
          <a:xfrm>
            <a:off x="8711842" y="2786658"/>
            <a:ext cx="1978926" cy="1667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692FF68-C970-AB57-90F0-8507185A9E5F}"/>
              </a:ext>
            </a:extLst>
          </p:cNvPr>
          <p:cNvSpPr/>
          <p:nvPr/>
        </p:nvSpPr>
        <p:spPr>
          <a:xfrm>
            <a:off x="8855147" y="2969520"/>
            <a:ext cx="1610431" cy="365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DataNode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A4F079A-E714-8295-9450-B0F38F52AEC0}"/>
              </a:ext>
            </a:extLst>
          </p:cNvPr>
          <p:cNvSpPr/>
          <p:nvPr/>
        </p:nvSpPr>
        <p:spPr>
          <a:xfrm>
            <a:off x="8855147" y="3477890"/>
            <a:ext cx="1610431" cy="7694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/>
              <a:t>Node</a:t>
            </a:r>
          </a:p>
          <a:p>
            <a:pPr algn="ctr"/>
            <a:r>
              <a:rPr lang="es-CL" b="1" dirty="0"/>
              <a:t>Manager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36ABC6D-316C-6A72-E146-E858B850C5AD}"/>
              </a:ext>
            </a:extLst>
          </p:cNvPr>
          <p:cNvSpPr txBox="1"/>
          <p:nvPr/>
        </p:nvSpPr>
        <p:spPr>
          <a:xfrm>
            <a:off x="8964325" y="2404007"/>
            <a:ext cx="150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Nodo Worker</a:t>
            </a:r>
          </a:p>
        </p:txBody>
      </p:sp>
    </p:spTree>
    <p:extLst>
      <p:ext uri="{BB962C8B-B14F-4D97-AF65-F5344CB8AC3E}">
        <p14:creationId xmlns:p14="http://schemas.microsoft.com/office/powerpoint/2010/main" val="247080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4A7EB7E-E442-5082-B068-AC0382BD4132}"/>
              </a:ext>
            </a:extLst>
          </p:cNvPr>
          <p:cNvSpPr/>
          <p:nvPr/>
        </p:nvSpPr>
        <p:spPr>
          <a:xfrm>
            <a:off x="3215146" y="3288890"/>
            <a:ext cx="4645709" cy="1080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429FEB-D00E-C77C-E3EE-AB35894E67D4}"/>
              </a:ext>
            </a:extLst>
          </p:cNvPr>
          <p:cNvSpPr/>
          <p:nvPr/>
        </p:nvSpPr>
        <p:spPr>
          <a:xfrm>
            <a:off x="4970207" y="2654709"/>
            <a:ext cx="2890648" cy="4756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F638F1-6A94-4A78-287D-0E81CA2BE335}"/>
              </a:ext>
            </a:extLst>
          </p:cNvPr>
          <p:cNvSpPr/>
          <p:nvPr/>
        </p:nvSpPr>
        <p:spPr>
          <a:xfrm>
            <a:off x="3215146" y="2050026"/>
            <a:ext cx="1622325" cy="1080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77C549-06DE-7BB9-CFF9-3020C2044D04}"/>
              </a:ext>
            </a:extLst>
          </p:cNvPr>
          <p:cNvSpPr/>
          <p:nvPr/>
        </p:nvSpPr>
        <p:spPr>
          <a:xfrm>
            <a:off x="4970207" y="2050026"/>
            <a:ext cx="2890648" cy="4756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5D785B-AF6E-7208-45F4-5D2C49FBF69C}"/>
              </a:ext>
            </a:extLst>
          </p:cNvPr>
          <p:cNvSpPr txBox="1"/>
          <p:nvPr/>
        </p:nvSpPr>
        <p:spPr>
          <a:xfrm>
            <a:off x="4468761" y="3569110"/>
            <a:ext cx="435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Hadoop Core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B41390-F473-A31F-1617-C752BD8478EB}"/>
              </a:ext>
            </a:extLst>
          </p:cNvPr>
          <p:cNvSpPr txBox="1"/>
          <p:nvPr/>
        </p:nvSpPr>
        <p:spPr>
          <a:xfrm>
            <a:off x="3539577" y="2354888"/>
            <a:ext cx="113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HDFS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C341008-8BA3-D25C-1AB0-78A873CDF266}"/>
              </a:ext>
            </a:extLst>
          </p:cNvPr>
          <p:cNvSpPr txBox="1"/>
          <p:nvPr/>
        </p:nvSpPr>
        <p:spPr>
          <a:xfrm>
            <a:off x="5397841" y="2063996"/>
            <a:ext cx="2463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 Reduce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DD7868A-2C04-0246-82E3-363428D0D95F}"/>
              </a:ext>
            </a:extLst>
          </p:cNvPr>
          <p:cNvSpPr txBox="1"/>
          <p:nvPr/>
        </p:nvSpPr>
        <p:spPr>
          <a:xfrm>
            <a:off x="5891962" y="2676443"/>
            <a:ext cx="2463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YARN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A297A61-5324-D31B-3723-3FB74A3348B7}"/>
              </a:ext>
            </a:extLst>
          </p:cNvPr>
          <p:cNvSpPr txBox="1"/>
          <p:nvPr/>
        </p:nvSpPr>
        <p:spPr>
          <a:xfrm>
            <a:off x="3141388" y="4461777"/>
            <a:ext cx="54421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Hadoop Core</a:t>
            </a:r>
            <a:r>
              <a:rPr lang="es-CL" sz="1400" dirty="0"/>
              <a:t>: Utilitarios para el resto de los módulos</a:t>
            </a:r>
          </a:p>
          <a:p>
            <a:r>
              <a:rPr lang="es-CL" sz="1400" b="1" dirty="0"/>
              <a:t>YARN</a:t>
            </a:r>
            <a:r>
              <a:rPr lang="es-CL" sz="1400" dirty="0"/>
              <a:t>: Gestiona los recursos del clúster</a:t>
            </a:r>
          </a:p>
          <a:p>
            <a:r>
              <a:rPr lang="es-CL" sz="1400" b="1" dirty="0"/>
              <a:t>HDFS</a:t>
            </a:r>
            <a:r>
              <a:rPr lang="es-CL" sz="1400" dirty="0"/>
              <a:t>: Almacena los datos en el clúster</a:t>
            </a:r>
          </a:p>
          <a:p>
            <a:r>
              <a:rPr lang="es-CL" sz="1400" b="1" dirty="0"/>
              <a:t>Map Reduce</a:t>
            </a:r>
            <a:r>
              <a:rPr lang="es-CL" sz="1400" dirty="0"/>
              <a:t>: Motor de procesamiento</a:t>
            </a:r>
          </a:p>
          <a:p>
            <a:r>
              <a:rPr lang="es-CL" sz="1400" b="1" dirty="0"/>
              <a:t>HIVE</a:t>
            </a:r>
            <a:r>
              <a:rPr lang="es-CL" sz="1400" dirty="0"/>
              <a:t>: SQL sobre procesos MapReduce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D2F636-76C0-2084-D6CA-08F3B56A6ABD}"/>
              </a:ext>
            </a:extLst>
          </p:cNvPr>
          <p:cNvSpPr/>
          <p:nvPr/>
        </p:nvSpPr>
        <p:spPr>
          <a:xfrm>
            <a:off x="4970207" y="1423609"/>
            <a:ext cx="2890648" cy="4756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45FFDE-AB06-667E-B811-8B25A6F66E54}"/>
              </a:ext>
            </a:extLst>
          </p:cNvPr>
          <p:cNvSpPr txBox="1"/>
          <p:nvPr/>
        </p:nvSpPr>
        <p:spPr>
          <a:xfrm>
            <a:off x="5397841" y="1437579"/>
            <a:ext cx="2463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HIVE</a:t>
            </a:r>
          </a:p>
        </p:txBody>
      </p:sp>
    </p:spTree>
    <p:extLst>
      <p:ext uri="{BB962C8B-B14F-4D97-AF65-F5344CB8AC3E}">
        <p14:creationId xmlns:p14="http://schemas.microsoft.com/office/powerpoint/2010/main" val="3911774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1045</Words>
  <Application>Microsoft Office PowerPoint</Application>
  <PresentationFormat>Panorámica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Arquitectura Yarn</vt:lpstr>
      <vt:lpstr>Arquitectura HDFS</vt:lpstr>
      <vt:lpstr>Arquitectura HDFS</vt:lpstr>
      <vt:lpstr>Presentación de PowerPoint</vt:lpstr>
      <vt:lpstr>Clúster  Hadoop</vt:lpstr>
      <vt:lpstr>Clúster Hadoop</vt:lpstr>
      <vt:lpstr>Clúster Hadoop</vt:lpstr>
      <vt:lpstr>Nodo Master o Nodos Master</vt:lpstr>
      <vt:lpstr>Nodos Slave o Workers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PEREZ LINO, ALFONSO A.</dc:creator>
  <cp:lastModifiedBy>PEREZ LINO, ALFONSO A.</cp:lastModifiedBy>
  <cp:revision>5</cp:revision>
  <dcterms:created xsi:type="dcterms:W3CDTF">2024-05-16T16:01:20Z</dcterms:created>
  <dcterms:modified xsi:type="dcterms:W3CDTF">2024-05-26T02:48:59Z</dcterms:modified>
</cp:coreProperties>
</file>